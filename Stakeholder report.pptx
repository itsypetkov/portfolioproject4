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76"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7" r:id="rId23"/>
    <p:sldId id="278" r:id="rId24"/>
    <p:sldId id="279" r:id="rId25"/>
    <p:sldId id="280" r:id="rId26"/>
    <p:sldId id="281" r:id="rId27"/>
    <p:sldId id="282" r:id="rId28"/>
    <p:sldId id="283" r:id="rId29"/>
    <p:sldId id="284"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9" d="100"/>
          <a:sy n="109" d="100"/>
        </p:scale>
        <p:origin x="62" y="3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CF3112F9-9AAF-40B9-95CF-08E81B182A94}" type="datetimeFigureOut">
              <a:rPr lang="en-GB" smtClean="0"/>
              <a:t>07/02/2026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EA79D23-D47F-4D6B-8F5A-6BEB188140C6}" type="slidenum">
              <a:rPr lang="en-GB" smtClean="0"/>
              <a:t>‹#›</a:t>
            </a:fld>
            <a:endParaRPr lang="en-GB"/>
          </a:p>
        </p:txBody>
      </p:sp>
      <p:cxnSp>
        <p:nvCxnSpPr>
          <p:cNvPr id="13" name="Straight Connector 12"/>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1556498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3112F9-9AAF-40B9-95CF-08E81B182A94}" type="datetimeFigureOut">
              <a:rPr lang="en-GB" smtClean="0"/>
              <a:t>07/02/2026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EA79D23-D47F-4D6B-8F5A-6BEB188140C6}" type="slidenum">
              <a:rPr lang="en-GB" smtClean="0"/>
              <a:t>‹#›</a:t>
            </a:fld>
            <a:endParaRPr lang="en-GB"/>
          </a:p>
        </p:txBody>
      </p:sp>
    </p:spTree>
    <p:extLst>
      <p:ext uri="{BB962C8B-B14F-4D97-AF65-F5344CB8AC3E}">
        <p14:creationId xmlns:p14="http://schemas.microsoft.com/office/powerpoint/2010/main" val="961597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3112F9-9AAF-40B9-95CF-08E81B182A94}" type="datetimeFigureOut">
              <a:rPr lang="en-GB" smtClean="0"/>
              <a:t>07/02/2026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EA79D23-D47F-4D6B-8F5A-6BEB188140C6}" type="slidenum">
              <a:rPr lang="en-GB" smtClean="0"/>
              <a:t>‹#›</a:t>
            </a:fld>
            <a:endParaRPr lang="en-GB"/>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64571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F3112F9-9AAF-40B9-95CF-08E81B182A94}" type="datetimeFigureOut">
              <a:rPr lang="en-GB" smtClean="0"/>
              <a:t>07/02/2026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EA79D23-D47F-4D6B-8F5A-6BEB188140C6}" type="slidenum">
              <a:rPr lang="en-GB" smtClean="0"/>
              <a:t>‹#›</a:t>
            </a:fld>
            <a:endParaRPr lang="en-GB"/>
          </a:p>
        </p:txBody>
      </p:sp>
    </p:spTree>
    <p:extLst>
      <p:ext uri="{BB962C8B-B14F-4D97-AF65-F5344CB8AC3E}">
        <p14:creationId xmlns:p14="http://schemas.microsoft.com/office/powerpoint/2010/main" val="1684776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lumMod val="75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lumMod val="7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F3112F9-9AAF-40B9-95CF-08E81B182A94}" type="datetimeFigureOut">
              <a:rPr lang="en-GB" smtClean="0"/>
              <a:t>07/02/2026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EA79D23-D47F-4D6B-8F5A-6BEB188140C6}" type="slidenum">
              <a:rPr lang="en-GB" smtClean="0"/>
              <a:t>‹#›</a:t>
            </a:fld>
            <a:endParaRPr lang="en-GB"/>
          </a:p>
        </p:txBody>
      </p:sp>
    </p:spTree>
    <p:extLst>
      <p:ext uri="{BB962C8B-B14F-4D97-AF65-F5344CB8AC3E}">
        <p14:creationId xmlns:p14="http://schemas.microsoft.com/office/powerpoint/2010/main" val="3949734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F3112F9-9AAF-40B9-95CF-08E81B182A94}" type="datetimeFigureOut">
              <a:rPr lang="en-GB" smtClean="0"/>
              <a:t>07/02/2026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EA79D23-D47F-4D6B-8F5A-6BEB188140C6}" type="slidenum">
              <a:rPr lang="en-GB" smtClean="0"/>
              <a:t>‹#›</a:t>
            </a:fld>
            <a:endParaRPr lang="en-GB"/>
          </a:p>
        </p:txBody>
      </p:sp>
    </p:spTree>
    <p:extLst>
      <p:ext uri="{BB962C8B-B14F-4D97-AF65-F5344CB8AC3E}">
        <p14:creationId xmlns:p14="http://schemas.microsoft.com/office/powerpoint/2010/main" val="4012252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3112F9-9AAF-40B9-95CF-08E81B182A94}" type="datetimeFigureOut">
              <a:rPr lang="en-GB" smtClean="0"/>
              <a:t>07/02/2026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EA79D23-D47F-4D6B-8F5A-6BEB188140C6}" type="slidenum">
              <a:rPr lang="en-GB" smtClean="0"/>
              <a:t>‹#›</a:t>
            </a:fld>
            <a:endParaRPr lang="en-GB"/>
          </a:p>
        </p:txBody>
      </p:sp>
    </p:spTree>
    <p:extLst>
      <p:ext uri="{BB962C8B-B14F-4D97-AF65-F5344CB8AC3E}">
        <p14:creationId xmlns:p14="http://schemas.microsoft.com/office/powerpoint/2010/main" val="2174751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F3112F9-9AAF-40B9-95CF-08E81B182A94}" type="datetimeFigureOut">
              <a:rPr lang="en-GB" smtClean="0"/>
              <a:t>07/02/2026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EA79D23-D47F-4D6B-8F5A-6BEB188140C6}" type="slidenum">
              <a:rPr lang="en-GB" smtClean="0"/>
              <a:t>‹#›</a:t>
            </a:fld>
            <a:endParaRPr lang="en-GB"/>
          </a:p>
        </p:txBody>
      </p:sp>
    </p:spTree>
    <p:extLst>
      <p:ext uri="{BB962C8B-B14F-4D97-AF65-F5344CB8AC3E}">
        <p14:creationId xmlns:p14="http://schemas.microsoft.com/office/powerpoint/2010/main" val="3180139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F3112F9-9AAF-40B9-95CF-08E81B182A94}" type="datetimeFigureOut">
              <a:rPr lang="en-GB" smtClean="0"/>
              <a:t>07/02/2026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EA79D23-D47F-4D6B-8F5A-6BEB188140C6}" type="slidenum">
              <a:rPr lang="en-GB" smtClean="0"/>
              <a:t>‹#›</a:t>
            </a:fld>
            <a:endParaRPr lang="en-GB"/>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20783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3112F9-9AAF-40B9-95CF-08E81B182A94}" type="datetimeFigureOut">
              <a:rPr lang="en-GB" smtClean="0"/>
              <a:t>07/02/2026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EA79D23-D47F-4D6B-8F5A-6BEB188140C6}" type="slidenum">
              <a:rPr lang="en-GB" smtClean="0"/>
              <a:t>‹#›</a:t>
            </a:fld>
            <a:endParaRPr lang="en-GB"/>
          </a:p>
        </p:txBody>
      </p:sp>
    </p:spTree>
    <p:extLst>
      <p:ext uri="{BB962C8B-B14F-4D97-AF65-F5344CB8AC3E}">
        <p14:creationId xmlns:p14="http://schemas.microsoft.com/office/powerpoint/2010/main" val="527063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3112F9-9AAF-40B9-95CF-08E81B182A94}" type="datetimeFigureOut">
              <a:rPr lang="en-GB" smtClean="0"/>
              <a:t>07/02/2026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EA79D23-D47F-4D6B-8F5A-6BEB188140C6}" type="slidenum">
              <a:rPr lang="en-GB" smtClean="0"/>
              <a:t>‹#›</a:t>
            </a:fld>
            <a:endParaRPr lang="en-GB"/>
          </a:p>
        </p:txBody>
      </p:sp>
      <p:cxnSp>
        <p:nvCxnSpPr>
          <p:cNvPr id="8" name="Straight Connector 7"/>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3896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F3112F9-9AAF-40B9-95CF-08E81B182A94}" type="datetimeFigureOut">
              <a:rPr lang="en-GB" smtClean="0"/>
              <a:t>07/02/2026</a:t>
            </a:fld>
            <a:endParaRPr lang="en-GB"/>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GB"/>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7EA79D23-D47F-4D6B-8F5A-6BEB188140C6}" type="slidenum">
              <a:rPr lang="en-GB" smtClean="0"/>
              <a:t>‹#›</a:t>
            </a:fld>
            <a:endParaRPr lang="en-GB"/>
          </a:p>
        </p:txBody>
      </p:sp>
      <p:cxnSp>
        <p:nvCxnSpPr>
          <p:cNvPr id="8" name="Straight Connector 7"/>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3884294"/>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D8FC2-F8C6-F764-80D3-3CBF6664DFD8}"/>
              </a:ext>
            </a:extLst>
          </p:cNvPr>
          <p:cNvSpPr>
            <a:spLocks noGrp="1"/>
          </p:cNvSpPr>
          <p:nvPr>
            <p:ph type="ctrTitle"/>
          </p:nvPr>
        </p:nvSpPr>
        <p:spPr/>
        <p:txBody>
          <a:bodyPr/>
          <a:lstStyle/>
          <a:p>
            <a:r>
              <a:rPr lang="en-GB" noProof="0" dirty="0"/>
              <a:t>Stakeholder Data Storytelling Report</a:t>
            </a:r>
          </a:p>
        </p:txBody>
      </p:sp>
      <p:sp>
        <p:nvSpPr>
          <p:cNvPr id="3" name="Subtitle 2">
            <a:extLst>
              <a:ext uri="{FF2B5EF4-FFF2-40B4-BE49-F238E27FC236}">
                <a16:creationId xmlns:a16="http://schemas.microsoft.com/office/drawing/2014/main" id="{4260E504-7812-2345-E2FA-21521EF03622}"/>
              </a:ext>
            </a:extLst>
          </p:cNvPr>
          <p:cNvSpPr>
            <a:spLocks noGrp="1"/>
          </p:cNvSpPr>
          <p:nvPr>
            <p:ph type="subTitle" idx="1"/>
          </p:nvPr>
        </p:nvSpPr>
        <p:spPr/>
        <p:txBody>
          <a:bodyPr>
            <a:normAutofit fontScale="85000" lnSpcReduction="20000"/>
          </a:bodyPr>
          <a:lstStyle/>
          <a:p>
            <a:pPr algn="just"/>
            <a:r>
              <a:rPr lang="en-GB" noProof="0" dirty="0"/>
              <a:t>Tool used: MS Excel</a:t>
            </a:r>
          </a:p>
          <a:p>
            <a:pPr algn="just"/>
            <a:r>
              <a:rPr lang="en-GB" u="sng" noProof="0" dirty="0"/>
              <a:t>Author: Hristo Petkov   </a:t>
            </a:r>
          </a:p>
          <a:p>
            <a:pPr algn="just"/>
            <a:r>
              <a:rPr lang="en-GB" noProof="0" dirty="0"/>
              <a:t>Data Analyst * Data Visualisation Specialist * Researcher * Software Developer ** I analyse and visualise data, conduct research and invent new things</a:t>
            </a:r>
          </a:p>
        </p:txBody>
      </p:sp>
    </p:spTree>
    <p:extLst>
      <p:ext uri="{BB962C8B-B14F-4D97-AF65-F5344CB8AC3E}">
        <p14:creationId xmlns:p14="http://schemas.microsoft.com/office/powerpoint/2010/main" val="4008544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85CDF-0FD0-DE8F-DF02-37BCFA1FE1EE}"/>
              </a:ext>
            </a:extLst>
          </p:cNvPr>
          <p:cNvSpPr>
            <a:spLocks noGrp="1"/>
          </p:cNvSpPr>
          <p:nvPr>
            <p:ph type="title"/>
          </p:nvPr>
        </p:nvSpPr>
        <p:spPr/>
        <p:txBody>
          <a:bodyPr/>
          <a:lstStyle/>
          <a:p>
            <a:r>
              <a:rPr lang="en-GB" noProof="0" dirty="0"/>
              <a:t>Contents (1)</a:t>
            </a:r>
          </a:p>
        </p:txBody>
      </p:sp>
      <p:sp>
        <p:nvSpPr>
          <p:cNvPr id="3" name="Content Placeholder 2">
            <a:extLst>
              <a:ext uri="{FF2B5EF4-FFF2-40B4-BE49-F238E27FC236}">
                <a16:creationId xmlns:a16="http://schemas.microsoft.com/office/drawing/2014/main" id="{65DFD16D-57AE-B93C-A1ED-422AC63E39CA}"/>
              </a:ext>
            </a:extLst>
          </p:cNvPr>
          <p:cNvSpPr>
            <a:spLocks noGrp="1"/>
          </p:cNvSpPr>
          <p:nvPr>
            <p:ph idx="1"/>
          </p:nvPr>
        </p:nvSpPr>
        <p:spPr/>
        <p:txBody>
          <a:bodyPr/>
          <a:lstStyle/>
          <a:p>
            <a:pPr>
              <a:buFont typeface="Wingdings" panose="05000000000000000000" pitchFamily="2" charset="2"/>
              <a:buChar char="Ø"/>
            </a:pPr>
            <a:r>
              <a:rPr lang="en-GB" noProof="0" dirty="0"/>
              <a:t> Introduction</a:t>
            </a:r>
          </a:p>
          <a:p>
            <a:pPr>
              <a:buFont typeface="Wingdings" panose="05000000000000000000" pitchFamily="2" charset="2"/>
              <a:buChar char="Ø"/>
            </a:pPr>
            <a:r>
              <a:rPr lang="en-GB" noProof="0" dirty="0"/>
              <a:t> Analytical Focus &amp; Key Business Questions</a:t>
            </a:r>
          </a:p>
          <a:p>
            <a:pPr>
              <a:buFont typeface="Wingdings" panose="05000000000000000000" pitchFamily="2" charset="2"/>
              <a:buChar char="Ø"/>
            </a:pPr>
            <a:r>
              <a:rPr lang="en-GB" noProof="0" dirty="0"/>
              <a:t> Business Questions Significance</a:t>
            </a:r>
          </a:p>
          <a:p>
            <a:pPr>
              <a:buFont typeface="Wingdings" panose="05000000000000000000" pitchFamily="2" charset="2"/>
              <a:buChar char="Ø"/>
            </a:pPr>
            <a:r>
              <a:rPr lang="en-GB" noProof="0" dirty="0"/>
              <a:t> Dashboard &amp; Visualisations</a:t>
            </a:r>
          </a:p>
          <a:p>
            <a:pPr>
              <a:buFont typeface="Wingdings" panose="05000000000000000000" pitchFamily="2" charset="2"/>
              <a:buChar char="Ø"/>
            </a:pPr>
            <a:r>
              <a:rPr lang="en-GB" noProof="0" dirty="0"/>
              <a:t> Overall performance and trend – Output Analysis Interpretation</a:t>
            </a:r>
          </a:p>
          <a:p>
            <a:pPr lvl="1">
              <a:buFont typeface="Wingdings" panose="05000000000000000000" pitchFamily="2" charset="2"/>
              <a:buChar char="Ø"/>
            </a:pPr>
            <a:r>
              <a:rPr lang="en-GB" noProof="0" dirty="0"/>
              <a:t> Analysis Report</a:t>
            </a:r>
          </a:p>
          <a:p>
            <a:pPr lvl="1">
              <a:buFont typeface="Wingdings" panose="05000000000000000000" pitchFamily="2" charset="2"/>
              <a:buChar char="Ø"/>
            </a:pPr>
            <a:r>
              <a:rPr lang="en-GB" noProof="0" dirty="0"/>
              <a:t> Key Insights</a:t>
            </a:r>
          </a:p>
          <a:p>
            <a:pPr lvl="1">
              <a:buFont typeface="Wingdings" panose="05000000000000000000" pitchFamily="2" charset="2"/>
              <a:buChar char="Ø"/>
            </a:pPr>
            <a:r>
              <a:rPr lang="en-GB" noProof="0" dirty="0"/>
              <a:t> Business Implications</a:t>
            </a:r>
          </a:p>
          <a:p>
            <a:pPr lvl="1">
              <a:buFont typeface="Wingdings" panose="05000000000000000000" pitchFamily="2" charset="2"/>
              <a:buChar char="Ø"/>
            </a:pPr>
            <a:r>
              <a:rPr lang="en-GB" noProof="0" dirty="0"/>
              <a:t> Recommended Strategic Actions</a:t>
            </a:r>
          </a:p>
          <a:p>
            <a:pPr>
              <a:buFont typeface="Wingdings" panose="05000000000000000000" pitchFamily="2" charset="2"/>
              <a:buChar char="Ø"/>
            </a:pPr>
            <a:endParaRPr lang="en-GB" noProof="0" dirty="0"/>
          </a:p>
        </p:txBody>
      </p:sp>
    </p:spTree>
    <p:extLst>
      <p:ext uri="{BB962C8B-B14F-4D97-AF65-F5344CB8AC3E}">
        <p14:creationId xmlns:p14="http://schemas.microsoft.com/office/powerpoint/2010/main" val="3182764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A4C3C-411A-58DA-8202-5C99AF541003}"/>
              </a:ext>
            </a:extLst>
          </p:cNvPr>
          <p:cNvSpPr>
            <a:spLocks noGrp="1"/>
          </p:cNvSpPr>
          <p:nvPr>
            <p:ph type="title"/>
          </p:nvPr>
        </p:nvSpPr>
        <p:spPr/>
        <p:txBody>
          <a:bodyPr/>
          <a:lstStyle/>
          <a:p>
            <a:r>
              <a:rPr lang="en-GB" noProof="0" dirty="0"/>
              <a:t>Contents (2)</a:t>
            </a:r>
          </a:p>
        </p:txBody>
      </p:sp>
      <p:sp>
        <p:nvSpPr>
          <p:cNvPr id="3" name="Content Placeholder 2">
            <a:extLst>
              <a:ext uri="{FF2B5EF4-FFF2-40B4-BE49-F238E27FC236}">
                <a16:creationId xmlns:a16="http://schemas.microsoft.com/office/drawing/2014/main" id="{4BE4DBF8-FED4-C140-89CE-FFC8F60AE5EC}"/>
              </a:ext>
            </a:extLst>
          </p:cNvPr>
          <p:cNvSpPr>
            <a:spLocks noGrp="1"/>
          </p:cNvSpPr>
          <p:nvPr>
            <p:ph idx="1"/>
          </p:nvPr>
        </p:nvSpPr>
        <p:spPr/>
        <p:txBody>
          <a:bodyPr/>
          <a:lstStyle/>
          <a:p>
            <a:pPr>
              <a:buFont typeface="Wingdings" panose="05000000000000000000" pitchFamily="2" charset="2"/>
              <a:buChar char="Ø"/>
            </a:pPr>
            <a:r>
              <a:rPr lang="en-GB" noProof="0" dirty="0"/>
              <a:t> Customer experience by aircraft type – Output Analysis Interpretation</a:t>
            </a:r>
          </a:p>
          <a:p>
            <a:pPr lvl="1">
              <a:buFont typeface="Wingdings" panose="05000000000000000000" pitchFamily="2" charset="2"/>
              <a:buChar char="Ø"/>
            </a:pPr>
            <a:r>
              <a:rPr lang="en-GB" noProof="0" dirty="0"/>
              <a:t> Analysis Report</a:t>
            </a:r>
          </a:p>
          <a:p>
            <a:pPr lvl="1">
              <a:buFont typeface="Wingdings" panose="05000000000000000000" pitchFamily="2" charset="2"/>
              <a:buChar char="Ø"/>
            </a:pPr>
            <a:r>
              <a:rPr lang="en-GB" noProof="0" dirty="0"/>
              <a:t> Key Insights</a:t>
            </a:r>
          </a:p>
          <a:p>
            <a:pPr lvl="1">
              <a:buFont typeface="Wingdings" panose="05000000000000000000" pitchFamily="2" charset="2"/>
              <a:buChar char="Ø"/>
            </a:pPr>
            <a:r>
              <a:rPr lang="en-GB" noProof="0" dirty="0"/>
              <a:t> Business Implications</a:t>
            </a:r>
          </a:p>
          <a:p>
            <a:pPr lvl="1">
              <a:buFont typeface="Wingdings" panose="05000000000000000000" pitchFamily="2" charset="2"/>
              <a:buChar char="Ø"/>
            </a:pPr>
            <a:r>
              <a:rPr lang="en-GB" noProof="0" dirty="0"/>
              <a:t> Recommended Strategic Actions</a:t>
            </a:r>
          </a:p>
          <a:p>
            <a:pPr>
              <a:buFont typeface="Wingdings" panose="05000000000000000000" pitchFamily="2" charset="2"/>
              <a:buChar char="Ø"/>
            </a:pPr>
            <a:r>
              <a:rPr lang="en-GB" sz="2400" noProof="0" dirty="0"/>
              <a:t> Market-level satisfaction differences – Output Analysis Interpretation</a:t>
            </a:r>
          </a:p>
          <a:p>
            <a:pPr lvl="1">
              <a:buFont typeface="Wingdings" panose="05000000000000000000" pitchFamily="2" charset="2"/>
              <a:buChar char="Ø"/>
            </a:pPr>
            <a:r>
              <a:rPr lang="en-GB" noProof="0" dirty="0"/>
              <a:t> Analysis Report</a:t>
            </a:r>
          </a:p>
          <a:p>
            <a:pPr lvl="1">
              <a:buFont typeface="Wingdings" panose="05000000000000000000" pitchFamily="2" charset="2"/>
              <a:buChar char="Ø"/>
            </a:pPr>
            <a:r>
              <a:rPr lang="en-GB" noProof="0" dirty="0"/>
              <a:t> Key Insights</a:t>
            </a:r>
          </a:p>
          <a:p>
            <a:pPr lvl="1">
              <a:buFont typeface="Wingdings" panose="05000000000000000000" pitchFamily="2" charset="2"/>
              <a:buChar char="Ø"/>
            </a:pPr>
            <a:r>
              <a:rPr lang="en-GB" noProof="0" dirty="0"/>
              <a:t> Business Implications</a:t>
            </a:r>
          </a:p>
          <a:p>
            <a:pPr lvl="1">
              <a:buFont typeface="Wingdings" panose="05000000000000000000" pitchFamily="2" charset="2"/>
              <a:buChar char="Ø"/>
            </a:pPr>
            <a:r>
              <a:rPr lang="en-GB" noProof="0" dirty="0"/>
              <a:t> Recommended Strategic Actions</a:t>
            </a:r>
          </a:p>
        </p:txBody>
      </p:sp>
    </p:spTree>
    <p:extLst>
      <p:ext uri="{BB962C8B-B14F-4D97-AF65-F5344CB8AC3E}">
        <p14:creationId xmlns:p14="http://schemas.microsoft.com/office/powerpoint/2010/main" val="2375425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0796E-000C-AAF1-2F8A-445B42F5B14A}"/>
              </a:ext>
            </a:extLst>
          </p:cNvPr>
          <p:cNvSpPr>
            <a:spLocks noGrp="1"/>
          </p:cNvSpPr>
          <p:nvPr>
            <p:ph type="title"/>
          </p:nvPr>
        </p:nvSpPr>
        <p:spPr/>
        <p:txBody>
          <a:bodyPr/>
          <a:lstStyle/>
          <a:p>
            <a:r>
              <a:rPr lang="en-GB" noProof="0" dirty="0"/>
              <a:t>Contents (3)</a:t>
            </a:r>
          </a:p>
        </p:txBody>
      </p:sp>
      <p:sp>
        <p:nvSpPr>
          <p:cNvPr id="3" name="Content Placeholder 2">
            <a:extLst>
              <a:ext uri="{FF2B5EF4-FFF2-40B4-BE49-F238E27FC236}">
                <a16:creationId xmlns:a16="http://schemas.microsoft.com/office/drawing/2014/main" id="{D70619B0-9BBC-41D1-50E8-C974F40A223E}"/>
              </a:ext>
            </a:extLst>
          </p:cNvPr>
          <p:cNvSpPr>
            <a:spLocks noGrp="1"/>
          </p:cNvSpPr>
          <p:nvPr>
            <p:ph idx="1"/>
          </p:nvPr>
        </p:nvSpPr>
        <p:spPr/>
        <p:txBody>
          <a:bodyPr>
            <a:normAutofit fontScale="92500"/>
          </a:bodyPr>
          <a:lstStyle/>
          <a:p>
            <a:pPr>
              <a:buFont typeface="Wingdings" panose="05000000000000000000" pitchFamily="2" charset="2"/>
              <a:buChar char="Ø"/>
            </a:pPr>
            <a:r>
              <a:rPr lang="en-GB" noProof="0" dirty="0"/>
              <a:t> </a:t>
            </a:r>
            <a:r>
              <a:rPr lang="en-GB" sz="2400" noProof="0" dirty="0"/>
              <a:t>Drivers of customer satisfaction and dissatisfaction – Output Analysis Interpretation</a:t>
            </a:r>
          </a:p>
          <a:p>
            <a:pPr lvl="1">
              <a:buFont typeface="Wingdings" panose="05000000000000000000" pitchFamily="2" charset="2"/>
              <a:buChar char="Ø"/>
            </a:pPr>
            <a:r>
              <a:rPr lang="en-GB" sz="2000" noProof="0" dirty="0"/>
              <a:t> Analysis Report</a:t>
            </a:r>
          </a:p>
          <a:p>
            <a:pPr lvl="1">
              <a:buFont typeface="Wingdings" panose="05000000000000000000" pitchFamily="2" charset="2"/>
              <a:buChar char="Ø"/>
            </a:pPr>
            <a:r>
              <a:rPr lang="en-GB" sz="2000" noProof="0" dirty="0"/>
              <a:t> Key Insights</a:t>
            </a:r>
          </a:p>
          <a:p>
            <a:pPr lvl="1">
              <a:buFont typeface="Wingdings" panose="05000000000000000000" pitchFamily="2" charset="2"/>
              <a:buChar char="Ø"/>
            </a:pPr>
            <a:r>
              <a:rPr lang="en-GB" sz="2000" noProof="0" dirty="0"/>
              <a:t> Business Implications</a:t>
            </a:r>
          </a:p>
          <a:p>
            <a:pPr lvl="1">
              <a:buFont typeface="Wingdings" panose="05000000000000000000" pitchFamily="2" charset="2"/>
              <a:buChar char="Ø"/>
            </a:pPr>
            <a:r>
              <a:rPr lang="en-GB" sz="2000" noProof="0" dirty="0"/>
              <a:t> Recommended Strategic Actions</a:t>
            </a:r>
          </a:p>
          <a:p>
            <a:pPr>
              <a:buFont typeface="Wingdings" panose="05000000000000000000" pitchFamily="2" charset="2"/>
              <a:buChar char="Ø"/>
            </a:pPr>
            <a:r>
              <a:rPr lang="en-GB" sz="2400" noProof="0" dirty="0"/>
              <a:t> Segment-specific satisfaction dynamics over time – Output Analysis Interpretation</a:t>
            </a:r>
          </a:p>
          <a:p>
            <a:pPr lvl="1">
              <a:buFont typeface="Wingdings" panose="05000000000000000000" pitchFamily="2" charset="2"/>
              <a:buChar char="Ø"/>
            </a:pPr>
            <a:r>
              <a:rPr lang="en-GB" noProof="0" dirty="0"/>
              <a:t> Analysis Report</a:t>
            </a:r>
          </a:p>
          <a:p>
            <a:pPr lvl="1">
              <a:buFont typeface="Wingdings" panose="05000000000000000000" pitchFamily="2" charset="2"/>
              <a:buChar char="Ø"/>
            </a:pPr>
            <a:r>
              <a:rPr lang="en-GB" noProof="0" dirty="0"/>
              <a:t> Key Insights</a:t>
            </a:r>
          </a:p>
          <a:p>
            <a:pPr lvl="1">
              <a:buFont typeface="Wingdings" panose="05000000000000000000" pitchFamily="2" charset="2"/>
              <a:buChar char="Ø"/>
            </a:pPr>
            <a:r>
              <a:rPr lang="en-GB" noProof="0" dirty="0"/>
              <a:t> Business Implications</a:t>
            </a:r>
          </a:p>
          <a:p>
            <a:pPr lvl="1">
              <a:buFont typeface="Wingdings" panose="05000000000000000000" pitchFamily="2" charset="2"/>
              <a:buChar char="Ø"/>
            </a:pPr>
            <a:r>
              <a:rPr lang="en-GB" noProof="0" dirty="0"/>
              <a:t> Recommended Strategic Actions</a:t>
            </a:r>
          </a:p>
          <a:p>
            <a:pPr marL="91440" marR="0" lvl="0" indent="-91440" algn="l" defTabSz="914400" rtl="0" eaLnBrk="1" fontAlgn="auto" latinLnBrk="0" hangingPunct="1">
              <a:lnSpc>
                <a:spcPct val="90000"/>
              </a:lnSpc>
              <a:spcBef>
                <a:spcPts val="1200"/>
              </a:spcBef>
              <a:spcAft>
                <a:spcPts val="200"/>
              </a:spcAft>
              <a:buClr>
                <a:srgbClr val="9CBEBD"/>
              </a:buClr>
              <a:buSzPct val="100000"/>
              <a:buFont typeface="Wingdings" panose="05000000000000000000" pitchFamily="2" charset="2"/>
              <a:buChar char="Ø"/>
              <a:tabLst/>
              <a:defRPr/>
            </a:pPr>
            <a:r>
              <a:rPr kumimoji="0" lang="en-GB" sz="2200" b="0" i="0" u="none" strike="noStrike" kern="1200" cap="none" spc="0" normalizeH="0" baseline="0" noProof="0" dirty="0">
                <a:ln>
                  <a:noFill/>
                </a:ln>
                <a:solidFill>
                  <a:srgbClr val="FFFFFF"/>
                </a:solidFill>
                <a:effectLst/>
                <a:uLnTx/>
                <a:uFillTx/>
                <a:latin typeface="Tw Cen MT" panose="020B0602020104020603"/>
                <a:ea typeface="+mn-ea"/>
                <a:cs typeface="+mn-cs"/>
              </a:rPr>
              <a:t> Conclusion</a:t>
            </a:r>
          </a:p>
          <a:p>
            <a:pPr lvl="1">
              <a:buFont typeface="Wingdings" panose="05000000000000000000" pitchFamily="2" charset="2"/>
              <a:buChar char="Ø"/>
            </a:pPr>
            <a:endParaRPr lang="en-GB" noProof="0" dirty="0"/>
          </a:p>
        </p:txBody>
      </p:sp>
    </p:spTree>
    <p:extLst>
      <p:ext uri="{BB962C8B-B14F-4D97-AF65-F5344CB8AC3E}">
        <p14:creationId xmlns:p14="http://schemas.microsoft.com/office/powerpoint/2010/main" val="938407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628B8-BEB3-68D0-AA38-6E430E43AC3D}"/>
              </a:ext>
            </a:extLst>
          </p:cNvPr>
          <p:cNvSpPr>
            <a:spLocks noGrp="1"/>
          </p:cNvSpPr>
          <p:nvPr>
            <p:ph type="title"/>
          </p:nvPr>
        </p:nvSpPr>
        <p:spPr/>
        <p:txBody>
          <a:bodyPr/>
          <a:lstStyle/>
          <a:p>
            <a:r>
              <a:rPr lang="en-GB" noProof="0" dirty="0"/>
              <a:t>introduction</a:t>
            </a:r>
          </a:p>
        </p:txBody>
      </p:sp>
      <p:sp>
        <p:nvSpPr>
          <p:cNvPr id="3" name="Content Placeholder 2">
            <a:extLst>
              <a:ext uri="{FF2B5EF4-FFF2-40B4-BE49-F238E27FC236}">
                <a16:creationId xmlns:a16="http://schemas.microsoft.com/office/drawing/2014/main" id="{238A3ECF-BCF0-5885-C459-E0D8565A882C}"/>
              </a:ext>
            </a:extLst>
          </p:cNvPr>
          <p:cNvSpPr>
            <a:spLocks noGrp="1"/>
          </p:cNvSpPr>
          <p:nvPr>
            <p:ph idx="1"/>
          </p:nvPr>
        </p:nvSpPr>
        <p:spPr/>
        <p:txBody>
          <a:bodyPr>
            <a:normAutofit fontScale="92500"/>
          </a:bodyPr>
          <a:lstStyle/>
          <a:p>
            <a:pPr marL="0" indent="0" algn="just">
              <a:buNone/>
            </a:pPr>
            <a:r>
              <a:rPr lang="en-GB" noProof="0" dirty="0"/>
              <a:t>In this data-driven customer experience review, I analyse British Airways passenger feedback from March 2023 to October 2026, focusing on overall satisfaction trends, service quality drivers, aircraft-level experience variation, and geographic differences in customer sentiment. </a:t>
            </a:r>
          </a:p>
          <a:p>
            <a:pPr marL="0" indent="0" algn="just">
              <a:buNone/>
            </a:pPr>
            <a:r>
              <a:rPr lang="en-GB" noProof="0" dirty="0"/>
              <a:t>Specifically, I examine the following core pain points: 1) how overall customer satisfaction has evolved over time and whether recent initiatives have improved passenger perception; 2) which service dimensions most strongly influence overall ratings; 3) how customer experience differs across aircraft types and fleet configurations; 4) where regional disparities in satisfaction exist and what they imply for local service delivery; and 5) how traveller and seat segments shape satisfaction patterns. </a:t>
            </a:r>
          </a:p>
          <a:p>
            <a:pPr marL="0" indent="0" algn="just">
              <a:buNone/>
            </a:pPr>
            <a:r>
              <a:rPr lang="en-GB" noProof="0" dirty="0"/>
              <a:t>This report aims to translate large-scale passenger review data into actionable insights that support service optimisation, fleet investment prioritisation, targeted operational improvements, and long-term customer experience strategy.</a:t>
            </a:r>
          </a:p>
        </p:txBody>
      </p:sp>
    </p:spTree>
    <p:extLst>
      <p:ext uri="{BB962C8B-B14F-4D97-AF65-F5344CB8AC3E}">
        <p14:creationId xmlns:p14="http://schemas.microsoft.com/office/powerpoint/2010/main" val="2902875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F97A4-88E8-6DDB-4E44-8AFF5F164B5C}"/>
              </a:ext>
            </a:extLst>
          </p:cNvPr>
          <p:cNvSpPr>
            <a:spLocks noGrp="1"/>
          </p:cNvSpPr>
          <p:nvPr>
            <p:ph type="title"/>
          </p:nvPr>
        </p:nvSpPr>
        <p:spPr/>
        <p:txBody>
          <a:bodyPr/>
          <a:lstStyle/>
          <a:p>
            <a:r>
              <a:rPr lang="en-GB" noProof="0" dirty="0"/>
              <a:t>Analytical Focus &amp; Key Business Questions</a:t>
            </a:r>
          </a:p>
        </p:txBody>
      </p:sp>
      <p:sp>
        <p:nvSpPr>
          <p:cNvPr id="3" name="Content Placeholder 2">
            <a:extLst>
              <a:ext uri="{FF2B5EF4-FFF2-40B4-BE49-F238E27FC236}">
                <a16:creationId xmlns:a16="http://schemas.microsoft.com/office/drawing/2014/main" id="{C62D5DA5-CE4E-5D16-A252-DB1BD89A1506}"/>
              </a:ext>
            </a:extLst>
          </p:cNvPr>
          <p:cNvSpPr>
            <a:spLocks noGrp="1"/>
          </p:cNvSpPr>
          <p:nvPr>
            <p:ph idx="1"/>
          </p:nvPr>
        </p:nvSpPr>
        <p:spPr/>
        <p:txBody>
          <a:bodyPr/>
          <a:lstStyle/>
          <a:p>
            <a:pPr marL="457200" indent="-457200" algn="just">
              <a:buFont typeface="+mj-lt"/>
              <a:buAutoNum type="arabicPeriod"/>
            </a:pPr>
            <a:r>
              <a:rPr lang="en-GB" b="1" noProof="0" dirty="0"/>
              <a:t>Overall performance and trend </a:t>
            </a:r>
            <a:r>
              <a:rPr lang="en-GB" noProof="0" dirty="0"/>
              <a:t>- How is British Airways performing overall, and how has customer satisfaction changed over time?</a:t>
            </a:r>
          </a:p>
          <a:p>
            <a:pPr marL="457200" indent="-457200" algn="just">
              <a:buFont typeface="+mj-lt"/>
              <a:buAutoNum type="arabicPeriod"/>
            </a:pPr>
            <a:r>
              <a:rPr lang="en-GB" b="1" noProof="0" dirty="0"/>
              <a:t>Customer experience by aircraft type </a:t>
            </a:r>
            <a:r>
              <a:rPr lang="en-GB" noProof="0" dirty="0"/>
              <a:t>- Which aircraft types receive the highest and lowest customer ratings?</a:t>
            </a:r>
          </a:p>
          <a:p>
            <a:pPr marL="457200" indent="-457200" algn="just">
              <a:buFont typeface="+mj-lt"/>
              <a:buAutoNum type="arabicPeriod"/>
            </a:pPr>
            <a:r>
              <a:rPr lang="en-GB" b="1" noProof="0" dirty="0"/>
              <a:t>Market-level satisfaction differences </a:t>
            </a:r>
            <a:r>
              <a:rPr lang="en-GB" noProof="0" dirty="0"/>
              <a:t>- How do ratings differ by geography or country?</a:t>
            </a:r>
          </a:p>
          <a:p>
            <a:pPr marL="457200" indent="-457200" algn="just">
              <a:buFont typeface="+mj-lt"/>
              <a:buAutoNum type="arabicPeriod"/>
            </a:pPr>
            <a:r>
              <a:rPr lang="en-GB" b="1" noProof="0" dirty="0"/>
              <a:t>Drivers of customer satisfaction and dissatisfaction </a:t>
            </a:r>
            <a:r>
              <a:rPr lang="en-GB" noProof="0" dirty="0"/>
              <a:t>- Which aspects of the flight experience are rated highest or lowest?</a:t>
            </a:r>
          </a:p>
          <a:p>
            <a:pPr marL="457200" indent="-457200" algn="just">
              <a:buFont typeface="+mj-lt"/>
              <a:buAutoNum type="arabicPeriod"/>
            </a:pPr>
            <a:r>
              <a:rPr lang="en-GB" b="1" noProof="0" dirty="0"/>
              <a:t>Segment-specific satisfaction dynamics over time </a:t>
            </a:r>
            <a:r>
              <a:rPr lang="en-GB" noProof="0" dirty="0"/>
              <a:t>- Do ratings vary based on </a:t>
            </a:r>
            <a:r>
              <a:rPr lang="en-GB" noProof="0" dirty="0" err="1"/>
              <a:t>traveler</a:t>
            </a:r>
            <a:r>
              <a:rPr lang="en-GB" noProof="0" dirty="0"/>
              <a:t> type, seat type, or time period?</a:t>
            </a:r>
            <a:endParaRPr lang="en-GB" b="1" noProof="0" dirty="0"/>
          </a:p>
        </p:txBody>
      </p:sp>
    </p:spTree>
    <p:extLst>
      <p:ext uri="{BB962C8B-B14F-4D97-AF65-F5344CB8AC3E}">
        <p14:creationId xmlns:p14="http://schemas.microsoft.com/office/powerpoint/2010/main" val="3362527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83826-E620-793B-954E-1BFE14EA2238}"/>
              </a:ext>
            </a:extLst>
          </p:cNvPr>
          <p:cNvSpPr>
            <a:spLocks noGrp="1"/>
          </p:cNvSpPr>
          <p:nvPr>
            <p:ph type="title"/>
          </p:nvPr>
        </p:nvSpPr>
        <p:spPr/>
        <p:txBody>
          <a:bodyPr/>
          <a:lstStyle/>
          <a:p>
            <a:r>
              <a:rPr lang="en-GB" noProof="0" dirty="0"/>
              <a:t>Business Questions Significance</a:t>
            </a:r>
            <a:br>
              <a:rPr lang="en-GB" noProof="0" dirty="0"/>
            </a:br>
            <a:endParaRPr lang="en-GB" noProof="0" dirty="0"/>
          </a:p>
        </p:txBody>
      </p:sp>
      <p:sp>
        <p:nvSpPr>
          <p:cNvPr id="3" name="Content Placeholder 2">
            <a:extLst>
              <a:ext uri="{FF2B5EF4-FFF2-40B4-BE49-F238E27FC236}">
                <a16:creationId xmlns:a16="http://schemas.microsoft.com/office/drawing/2014/main" id="{342BC737-D4C2-3A22-0ECB-25089ACFD2B2}"/>
              </a:ext>
            </a:extLst>
          </p:cNvPr>
          <p:cNvSpPr>
            <a:spLocks noGrp="1"/>
          </p:cNvSpPr>
          <p:nvPr>
            <p:ph idx="1"/>
          </p:nvPr>
        </p:nvSpPr>
        <p:spPr/>
        <p:txBody>
          <a:bodyPr>
            <a:normAutofit fontScale="85000" lnSpcReduction="20000"/>
          </a:bodyPr>
          <a:lstStyle/>
          <a:p>
            <a:pPr algn="just">
              <a:buFont typeface="Wingdings" panose="05000000000000000000" pitchFamily="2" charset="2"/>
              <a:buChar char="Ø"/>
            </a:pPr>
            <a:r>
              <a:rPr lang="en-GB" noProof="0" dirty="0"/>
              <a:t> </a:t>
            </a:r>
            <a:r>
              <a:rPr lang="en-GB" b="1" noProof="0" dirty="0"/>
              <a:t>How is British Airways performing overall, and how has customer satisfaction changed over time? </a:t>
            </a:r>
            <a:r>
              <a:rPr lang="en-GB" noProof="0" dirty="0"/>
              <a:t>- Enables executive leadership to monitor brand health, assess the impact of strategic initiatives, and course-correct based on long-term customer satisfaction trends.</a:t>
            </a:r>
            <a:endParaRPr lang="en-GB" b="1" noProof="0" dirty="0"/>
          </a:p>
          <a:p>
            <a:pPr algn="just">
              <a:buFont typeface="Wingdings" panose="05000000000000000000" pitchFamily="2" charset="2"/>
              <a:buChar char="Ø"/>
            </a:pPr>
            <a:r>
              <a:rPr lang="en-GB" b="1" noProof="0" dirty="0"/>
              <a:t> Which aircraft types receive the highest and lowest customer ratings? </a:t>
            </a:r>
            <a:r>
              <a:rPr lang="en-GB" noProof="0" dirty="0"/>
              <a:t>- Supports fleet and operations leadership in prioritising refurbishment, retirement, and capital investment decisions based on customer experience impact.</a:t>
            </a:r>
            <a:endParaRPr lang="en-GB" b="1" noProof="0" dirty="0"/>
          </a:p>
          <a:p>
            <a:pPr algn="just">
              <a:buFont typeface="Wingdings" panose="05000000000000000000" pitchFamily="2" charset="2"/>
              <a:buChar char="Ø"/>
            </a:pPr>
            <a:r>
              <a:rPr lang="en-GB" b="1" noProof="0" dirty="0"/>
              <a:t> How do ratings differ by geography or country? </a:t>
            </a:r>
            <a:r>
              <a:rPr lang="en-GB" noProof="0" dirty="0"/>
              <a:t>- Empowers regional and commercial leaders to identify market-level performance gaps and deploy targeted service and commercial interventions.</a:t>
            </a:r>
            <a:endParaRPr lang="en-GB" b="1" noProof="0" dirty="0"/>
          </a:p>
          <a:p>
            <a:pPr algn="just">
              <a:buFont typeface="Wingdings" panose="05000000000000000000" pitchFamily="2" charset="2"/>
              <a:buChar char="Ø"/>
            </a:pPr>
            <a:r>
              <a:rPr lang="en-GB" b="1" noProof="0" dirty="0"/>
              <a:t> Which aspects of the flight experience are rated highest or lowest? </a:t>
            </a:r>
            <a:r>
              <a:rPr lang="en-GB" noProof="0" dirty="0"/>
              <a:t>- Guides customer experience and product owners in prioritising high-impact improvements across the end-to-end passenger journey.</a:t>
            </a:r>
            <a:endParaRPr lang="en-GB" b="1" noProof="0" dirty="0"/>
          </a:p>
          <a:p>
            <a:pPr algn="just">
              <a:buFont typeface="Wingdings" panose="05000000000000000000" pitchFamily="2" charset="2"/>
              <a:buChar char="Ø"/>
            </a:pPr>
            <a:r>
              <a:rPr lang="en-GB" b="1" noProof="0" dirty="0"/>
              <a:t> Do ratings vary based on traveller type, seat type, or time period? </a:t>
            </a:r>
            <a:r>
              <a:rPr lang="en-GB" noProof="0" dirty="0"/>
              <a:t>- Enables marketing, revenue, and product strategy teams to refine segmentation, optimise pricing, and tailor service propositions to maximise customer value and loyalty.</a:t>
            </a:r>
            <a:endParaRPr lang="en-GB" b="1" noProof="0" dirty="0"/>
          </a:p>
          <a:p>
            <a:pPr>
              <a:buFont typeface="Wingdings" panose="05000000000000000000" pitchFamily="2" charset="2"/>
              <a:buChar char="Ø"/>
            </a:pPr>
            <a:endParaRPr lang="en-GB" b="1" noProof="0" dirty="0"/>
          </a:p>
          <a:p>
            <a:pPr>
              <a:buFont typeface="Wingdings" panose="05000000000000000000" pitchFamily="2" charset="2"/>
              <a:buChar char="Ø"/>
            </a:pPr>
            <a:endParaRPr lang="en-GB" noProof="0" dirty="0"/>
          </a:p>
        </p:txBody>
      </p:sp>
    </p:spTree>
    <p:extLst>
      <p:ext uri="{BB962C8B-B14F-4D97-AF65-F5344CB8AC3E}">
        <p14:creationId xmlns:p14="http://schemas.microsoft.com/office/powerpoint/2010/main" val="253213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A785F-94F2-639E-62DD-3E710E89630B}"/>
              </a:ext>
            </a:extLst>
          </p:cNvPr>
          <p:cNvSpPr>
            <a:spLocks noGrp="1"/>
          </p:cNvSpPr>
          <p:nvPr>
            <p:ph type="title"/>
          </p:nvPr>
        </p:nvSpPr>
        <p:spPr/>
        <p:txBody>
          <a:bodyPr/>
          <a:lstStyle/>
          <a:p>
            <a:r>
              <a:rPr lang="en-GB" noProof="0" dirty="0"/>
              <a:t>Dashboard &amp; Visualisations</a:t>
            </a:r>
          </a:p>
        </p:txBody>
      </p:sp>
      <p:pic>
        <p:nvPicPr>
          <p:cNvPr id="1026" name="Picture 2" descr="image">
            <a:extLst>
              <a:ext uri="{FF2B5EF4-FFF2-40B4-BE49-F238E27FC236}">
                <a16:creationId xmlns:a16="http://schemas.microsoft.com/office/drawing/2014/main" id="{A2786805-2045-D02B-C004-DBCB0F743C0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24128" y="2084832"/>
            <a:ext cx="9720072" cy="4773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0376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738F4-4A58-2160-F6E8-B01D4B587234}"/>
              </a:ext>
            </a:extLst>
          </p:cNvPr>
          <p:cNvSpPr>
            <a:spLocks noGrp="1"/>
          </p:cNvSpPr>
          <p:nvPr>
            <p:ph type="title"/>
          </p:nvPr>
        </p:nvSpPr>
        <p:spPr/>
        <p:txBody>
          <a:bodyPr/>
          <a:lstStyle/>
          <a:p>
            <a:r>
              <a:rPr lang="en-GB" noProof="0" dirty="0"/>
              <a:t>Overall performance and trend – Output Analysis Interpretation (1)</a:t>
            </a:r>
          </a:p>
        </p:txBody>
      </p:sp>
      <p:sp>
        <p:nvSpPr>
          <p:cNvPr id="3" name="Content Placeholder 2">
            <a:extLst>
              <a:ext uri="{FF2B5EF4-FFF2-40B4-BE49-F238E27FC236}">
                <a16:creationId xmlns:a16="http://schemas.microsoft.com/office/drawing/2014/main" id="{E738DBC4-5A8A-C0A0-A8D8-E20DAB9E09EC}"/>
              </a:ext>
            </a:extLst>
          </p:cNvPr>
          <p:cNvSpPr>
            <a:spLocks noGrp="1"/>
          </p:cNvSpPr>
          <p:nvPr>
            <p:ph idx="1"/>
          </p:nvPr>
        </p:nvSpPr>
        <p:spPr/>
        <p:txBody>
          <a:bodyPr>
            <a:normAutofit fontScale="70000" lnSpcReduction="20000"/>
          </a:bodyPr>
          <a:lstStyle/>
          <a:p>
            <a:pPr marL="0" indent="0">
              <a:buNone/>
            </a:pPr>
            <a:r>
              <a:rPr lang="en-GB" sz="2900" noProof="0" dirty="0"/>
              <a:t>Analysis Report:</a:t>
            </a:r>
          </a:p>
          <a:p>
            <a:pPr marL="0" indent="0" algn="just">
              <a:buNone/>
            </a:pPr>
            <a:r>
              <a:rPr lang="en-GB" sz="2300" noProof="0" dirty="0"/>
              <a:t>The dashboard shows that British Airways’ overall customer satisfaction has remained moderate and relatively stable over time, with an average rating of 4.2. Monthly trend data indicates noticeable volatility, suggesting that customer experience is inconsistent across different periods. While certain months exhibit short-term improvements, these gains are not sustained, pointing to structural challenges in delivering a consistently high-quality experience. This pattern highlights the importance of moving beyond short-term tactical fixes toward more systemic service improvements.</a:t>
            </a:r>
          </a:p>
          <a:p>
            <a:pPr marL="0" indent="0" algn="just">
              <a:buNone/>
            </a:pPr>
            <a:r>
              <a:rPr lang="en-GB" sz="2300" noProof="0" dirty="0"/>
              <a:t>A closer examination of the time series data reveals periodic dips in satisfaction, which may correlate with operational pressures such as seasonal demand spikes, capacity constraints, or disruption events. These downward fluctuations indicate sensitivity of customer perception to service reliability and operational resilience, particularly during peak travel periods. The absence of a clear upward trend suggests that recent customer experience initiatives have yet to translate into sustained improvements, raising concerns around execution effectiveness, consistency, and change adoption across frontline teams.</a:t>
            </a:r>
          </a:p>
          <a:p>
            <a:pPr marL="0" indent="0" algn="just">
              <a:buNone/>
            </a:pPr>
            <a:r>
              <a:rPr lang="en-GB" sz="2300" noProof="0" dirty="0"/>
              <a:t>From a strategic perspective, the lack of long-term upward momentum in satisfaction represents a material risk to brand perception, customer loyalty, and competitive positioning. In a highly competitive airline market, stagnant satisfaction scores can quickly translate into revenue erosion, reduced repeat purchase, and declining Net Promoter Scores (NPS). This underscores the need for leadership to treat customer satisfaction not as a standalone metric, but as a core performance indicator tightly linked to operational excellence, employee engagement, and long-term profitability.</a:t>
            </a:r>
          </a:p>
          <a:p>
            <a:pPr marL="0" indent="0">
              <a:buNone/>
            </a:pPr>
            <a:endParaRPr lang="en-GB" noProof="0" dirty="0"/>
          </a:p>
        </p:txBody>
      </p:sp>
    </p:spTree>
    <p:extLst>
      <p:ext uri="{BB962C8B-B14F-4D97-AF65-F5344CB8AC3E}">
        <p14:creationId xmlns:p14="http://schemas.microsoft.com/office/powerpoint/2010/main" val="3158413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9744E-4B4C-49A4-A326-7DC580980404}"/>
              </a:ext>
            </a:extLst>
          </p:cNvPr>
          <p:cNvSpPr>
            <a:spLocks noGrp="1"/>
          </p:cNvSpPr>
          <p:nvPr>
            <p:ph type="title"/>
          </p:nvPr>
        </p:nvSpPr>
        <p:spPr/>
        <p:txBody>
          <a:bodyPr/>
          <a:lstStyle/>
          <a:p>
            <a:r>
              <a:rPr lang="en-GB" noProof="0" dirty="0"/>
              <a:t>Overall performance and trend – Output Analysis Interpretation (2)</a:t>
            </a:r>
          </a:p>
        </p:txBody>
      </p:sp>
      <p:sp>
        <p:nvSpPr>
          <p:cNvPr id="3" name="Content Placeholder 2">
            <a:extLst>
              <a:ext uri="{FF2B5EF4-FFF2-40B4-BE49-F238E27FC236}">
                <a16:creationId xmlns:a16="http://schemas.microsoft.com/office/drawing/2014/main" id="{BB63C885-935B-66C9-6758-27E7BDA7688A}"/>
              </a:ext>
            </a:extLst>
          </p:cNvPr>
          <p:cNvSpPr>
            <a:spLocks noGrp="1"/>
          </p:cNvSpPr>
          <p:nvPr>
            <p:ph idx="1"/>
          </p:nvPr>
        </p:nvSpPr>
        <p:spPr/>
        <p:txBody>
          <a:bodyPr/>
          <a:lstStyle/>
          <a:p>
            <a:pPr marL="0" indent="0">
              <a:buNone/>
            </a:pPr>
            <a:r>
              <a:rPr lang="en-GB" noProof="0" dirty="0"/>
              <a:t>Key Insights:</a:t>
            </a:r>
          </a:p>
          <a:p>
            <a:pPr algn="just">
              <a:buFont typeface="Wingdings" panose="05000000000000000000" pitchFamily="2" charset="2"/>
              <a:buChar char="Ø"/>
            </a:pPr>
            <a:r>
              <a:rPr lang="en-GB" noProof="0" dirty="0"/>
              <a:t> Overall customer satisfaction averages 4.2, indicating acceptable but underwhelming performance.</a:t>
            </a:r>
          </a:p>
          <a:p>
            <a:pPr algn="just">
              <a:buFont typeface="Wingdings" panose="05000000000000000000" pitchFamily="2" charset="2"/>
              <a:buChar char="Ø"/>
            </a:pPr>
            <a:r>
              <a:rPr lang="en-GB" noProof="0" dirty="0"/>
              <a:t> Monthly ratings display high volatility, reflecting inconsistent service delivery.</a:t>
            </a:r>
          </a:p>
          <a:p>
            <a:pPr algn="just">
              <a:buFont typeface="Wingdings" panose="05000000000000000000" pitchFamily="2" charset="2"/>
              <a:buChar char="Ø"/>
            </a:pPr>
            <a:r>
              <a:rPr lang="en-GB" noProof="0" dirty="0"/>
              <a:t> No sustained upward trend is visible, suggesting limited long-term impact from current improvement initiatives.</a:t>
            </a:r>
          </a:p>
          <a:p>
            <a:pPr algn="just">
              <a:buFont typeface="Wingdings" panose="05000000000000000000" pitchFamily="2" charset="2"/>
              <a:buChar char="Ø"/>
            </a:pPr>
            <a:r>
              <a:rPr lang="en-GB" noProof="0" dirty="0"/>
              <a:t> Periodic declines imply vulnerability during peak operational stress periods.</a:t>
            </a:r>
          </a:p>
          <a:p>
            <a:pPr algn="just">
              <a:buFont typeface="Wingdings" panose="05000000000000000000" pitchFamily="2" charset="2"/>
              <a:buChar char="Ø"/>
            </a:pPr>
            <a:r>
              <a:rPr lang="en-GB" noProof="0" dirty="0"/>
              <a:t> Stability without improvement signals competitive risk in a customer-driven market.</a:t>
            </a:r>
          </a:p>
        </p:txBody>
      </p:sp>
    </p:spTree>
    <p:extLst>
      <p:ext uri="{BB962C8B-B14F-4D97-AF65-F5344CB8AC3E}">
        <p14:creationId xmlns:p14="http://schemas.microsoft.com/office/powerpoint/2010/main" val="2692602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1FC5D-51E6-0405-4382-895E34FE1E09}"/>
              </a:ext>
            </a:extLst>
          </p:cNvPr>
          <p:cNvSpPr>
            <a:spLocks noGrp="1"/>
          </p:cNvSpPr>
          <p:nvPr>
            <p:ph type="title"/>
          </p:nvPr>
        </p:nvSpPr>
        <p:spPr/>
        <p:txBody>
          <a:bodyPr/>
          <a:lstStyle/>
          <a:p>
            <a:r>
              <a:rPr lang="en-GB" noProof="0" dirty="0"/>
              <a:t>Overall performance and trend – Output Analysis Interpretation (3)</a:t>
            </a:r>
          </a:p>
        </p:txBody>
      </p:sp>
      <p:sp>
        <p:nvSpPr>
          <p:cNvPr id="3" name="Content Placeholder 2">
            <a:extLst>
              <a:ext uri="{FF2B5EF4-FFF2-40B4-BE49-F238E27FC236}">
                <a16:creationId xmlns:a16="http://schemas.microsoft.com/office/drawing/2014/main" id="{B467C49D-ABCE-7841-513C-DD4E6967495D}"/>
              </a:ext>
            </a:extLst>
          </p:cNvPr>
          <p:cNvSpPr>
            <a:spLocks noGrp="1"/>
          </p:cNvSpPr>
          <p:nvPr>
            <p:ph idx="1"/>
          </p:nvPr>
        </p:nvSpPr>
        <p:spPr/>
        <p:txBody>
          <a:bodyPr/>
          <a:lstStyle/>
          <a:p>
            <a:pPr marL="0" indent="0">
              <a:buNone/>
            </a:pPr>
            <a:r>
              <a:rPr lang="en-GB" noProof="0" dirty="0"/>
              <a:t>Business Implications:</a:t>
            </a:r>
          </a:p>
          <a:p>
            <a:pPr algn="just">
              <a:buFont typeface="Wingdings" panose="05000000000000000000" pitchFamily="2" charset="2"/>
              <a:buChar char="Ø"/>
            </a:pPr>
            <a:r>
              <a:rPr lang="en-GB" noProof="0" dirty="0"/>
              <a:t> </a:t>
            </a:r>
            <a:r>
              <a:rPr lang="en-GB" b="1" noProof="0" dirty="0"/>
              <a:t>Brand equity risk:</a:t>
            </a:r>
            <a:r>
              <a:rPr lang="en-GB" noProof="0" dirty="0"/>
              <a:t> Inconsistent satisfaction weakens customer trust and long-term brand strength.</a:t>
            </a:r>
          </a:p>
          <a:p>
            <a:pPr algn="just">
              <a:buFont typeface="Wingdings" panose="05000000000000000000" pitchFamily="2" charset="2"/>
              <a:buChar char="Ø"/>
            </a:pPr>
            <a:r>
              <a:rPr lang="en-GB" noProof="0" dirty="0"/>
              <a:t> </a:t>
            </a:r>
            <a:r>
              <a:rPr lang="en-GB" b="1" noProof="0" dirty="0"/>
              <a:t>Revenue exposure:</a:t>
            </a:r>
            <a:r>
              <a:rPr lang="en-GB" noProof="0" dirty="0"/>
              <a:t> Lower satisfaction correlates with reduced loyalty, lower repeat purchase, and weaker pricing power.</a:t>
            </a:r>
          </a:p>
          <a:p>
            <a:pPr algn="just">
              <a:buFont typeface="Wingdings" panose="05000000000000000000" pitchFamily="2" charset="2"/>
              <a:buChar char="Ø"/>
            </a:pPr>
            <a:r>
              <a:rPr lang="en-GB" noProof="0" dirty="0"/>
              <a:t> </a:t>
            </a:r>
            <a:r>
              <a:rPr lang="en-GB" b="1" noProof="0" dirty="0"/>
              <a:t>Operational inefficiencies:</a:t>
            </a:r>
            <a:r>
              <a:rPr lang="en-GB" noProof="0" dirty="0"/>
              <a:t> Volatility indicates process breakdowns and inconsistent service execution.</a:t>
            </a:r>
          </a:p>
          <a:p>
            <a:pPr algn="just">
              <a:buFont typeface="Wingdings" panose="05000000000000000000" pitchFamily="2" charset="2"/>
              <a:buChar char="Ø"/>
            </a:pPr>
            <a:r>
              <a:rPr lang="en-GB" noProof="0" dirty="0"/>
              <a:t> </a:t>
            </a:r>
            <a:r>
              <a:rPr lang="en-GB" b="1" noProof="0" dirty="0"/>
              <a:t>Strategic urgency:</a:t>
            </a:r>
            <a:r>
              <a:rPr lang="en-GB" noProof="0" dirty="0"/>
              <a:t> Flat satisfaction trends suggest that current customer experience strategies lack sufficient scale or effectiveness.</a:t>
            </a:r>
          </a:p>
        </p:txBody>
      </p:sp>
    </p:spTree>
    <p:extLst>
      <p:ext uri="{BB962C8B-B14F-4D97-AF65-F5344CB8AC3E}">
        <p14:creationId xmlns:p14="http://schemas.microsoft.com/office/powerpoint/2010/main" val="708639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EA82E-EC7B-49F6-E7CB-ACA64F6FDCFE}"/>
              </a:ext>
            </a:extLst>
          </p:cNvPr>
          <p:cNvSpPr>
            <a:spLocks noGrp="1"/>
          </p:cNvSpPr>
          <p:nvPr>
            <p:ph type="title"/>
          </p:nvPr>
        </p:nvSpPr>
        <p:spPr/>
        <p:txBody>
          <a:bodyPr/>
          <a:lstStyle/>
          <a:p>
            <a:r>
              <a:rPr lang="en-GB" noProof="0" dirty="0"/>
              <a:t>Overall performance and trend – Output Analysis Interpretation (4)</a:t>
            </a:r>
          </a:p>
        </p:txBody>
      </p:sp>
      <p:sp>
        <p:nvSpPr>
          <p:cNvPr id="3" name="Content Placeholder 2">
            <a:extLst>
              <a:ext uri="{FF2B5EF4-FFF2-40B4-BE49-F238E27FC236}">
                <a16:creationId xmlns:a16="http://schemas.microsoft.com/office/drawing/2014/main" id="{6F33F41C-8279-2CBF-0B42-5815A84132F2}"/>
              </a:ext>
            </a:extLst>
          </p:cNvPr>
          <p:cNvSpPr>
            <a:spLocks noGrp="1"/>
          </p:cNvSpPr>
          <p:nvPr>
            <p:ph idx="1"/>
          </p:nvPr>
        </p:nvSpPr>
        <p:spPr/>
        <p:txBody>
          <a:bodyPr>
            <a:normAutofit lnSpcReduction="10000"/>
          </a:bodyPr>
          <a:lstStyle/>
          <a:p>
            <a:pPr marL="0" indent="0">
              <a:buNone/>
            </a:pPr>
            <a:r>
              <a:rPr lang="en-GB" noProof="0" dirty="0"/>
              <a:t>Recommended Strategic Actions:</a:t>
            </a:r>
          </a:p>
          <a:p>
            <a:pPr algn="just">
              <a:buFont typeface="Wingdings" panose="05000000000000000000" pitchFamily="2" charset="2"/>
              <a:buChar char="Ø"/>
            </a:pPr>
            <a:r>
              <a:rPr lang="en-GB" noProof="0" dirty="0"/>
              <a:t> Implement root-cause analysis on low-performing months to isolate operational drivers of customer dissatisfaction.</a:t>
            </a:r>
          </a:p>
          <a:p>
            <a:pPr algn="just">
              <a:buFont typeface="Wingdings" panose="05000000000000000000" pitchFamily="2" charset="2"/>
              <a:buChar char="Ø"/>
            </a:pPr>
            <a:r>
              <a:rPr lang="en-GB" noProof="0" dirty="0"/>
              <a:t> Establish experience consistency programs focused on standardising service quality across routes, aircraft, and crews.</a:t>
            </a:r>
          </a:p>
          <a:p>
            <a:pPr algn="just">
              <a:buFont typeface="Wingdings" panose="05000000000000000000" pitchFamily="2" charset="2"/>
              <a:buChar char="Ø"/>
            </a:pPr>
            <a:r>
              <a:rPr lang="en-GB" noProof="0" dirty="0"/>
              <a:t> Align frontline performance incentives with customer satisfaction metrics to reinforce accountability.</a:t>
            </a:r>
          </a:p>
          <a:p>
            <a:pPr algn="just">
              <a:buFont typeface="Wingdings" panose="05000000000000000000" pitchFamily="2" charset="2"/>
              <a:buChar char="Ø"/>
            </a:pPr>
            <a:r>
              <a:rPr lang="en-GB" noProof="0" dirty="0"/>
              <a:t> Enhance operational resilience during peak periods through staffing optimisation, contingency planning, and predictive demand modelling.</a:t>
            </a:r>
          </a:p>
          <a:p>
            <a:pPr algn="just">
              <a:buFont typeface="Wingdings" panose="05000000000000000000" pitchFamily="2" charset="2"/>
              <a:buChar char="Ø"/>
            </a:pPr>
            <a:r>
              <a:rPr lang="en-GB" noProof="0" dirty="0"/>
              <a:t> Introduce closed-loop customer feedback mechanisms to rapidly identify issues and validate improvement effectiveness.</a:t>
            </a:r>
          </a:p>
          <a:p>
            <a:pPr marL="0" indent="0">
              <a:buNone/>
            </a:pPr>
            <a:endParaRPr lang="en-GB" noProof="0" dirty="0"/>
          </a:p>
        </p:txBody>
      </p:sp>
    </p:spTree>
    <p:extLst>
      <p:ext uri="{BB962C8B-B14F-4D97-AF65-F5344CB8AC3E}">
        <p14:creationId xmlns:p14="http://schemas.microsoft.com/office/powerpoint/2010/main" val="23827474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9F0BF-2DBF-F640-839A-2476EB067737}"/>
              </a:ext>
            </a:extLst>
          </p:cNvPr>
          <p:cNvSpPr>
            <a:spLocks noGrp="1"/>
          </p:cNvSpPr>
          <p:nvPr>
            <p:ph type="title"/>
          </p:nvPr>
        </p:nvSpPr>
        <p:spPr/>
        <p:txBody>
          <a:bodyPr/>
          <a:lstStyle/>
          <a:p>
            <a:r>
              <a:rPr lang="en-GB" noProof="0" dirty="0"/>
              <a:t>Customer experience by aircraft type – Output Analysis Interpretation (1)</a:t>
            </a:r>
          </a:p>
        </p:txBody>
      </p:sp>
      <p:sp>
        <p:nvSpPr>
          <p:cNvPr id="3" name="Content Placeholder 2">
            <a:extLst>
              <a:ext uri="{FF2B5EF4-FFF2-40B4-BE49-F238E27FC236}">
                <a16:creationId xmlns:a16="http://schemas.microsoft.com/office/drawing/2014/main" id="{FF43B2DD-B6EE-9BD9-F4D9-EBE384CBF6A1}"/>
              </a:ext>
            </a:extLst>
          </p:cNvPr>
          <p:cNvSpPr>
            <a:spLocks noGrp="1"/>
          </p:cNvSpPr>
          <p:nvPr>
            <p:ph idx="1"/>
          </p:nvPr>
        </p:nvSpPr>
        <p:spPr/>
        <p:txBody>
          <a:bodyPr>
            <a:normAutofit fontScale="77500" lnSpcReduction="20000"/>
          </a:bodyPr>
          <a:lstStyle/>
          <a:p>
            <a:pPr marL="0" indent="0">
              <a:buNone/>
            </a:pPr>
            <a:r>
              <a:rPr lang="en-GB" sz="2600" noProof="0" dirty="0"/>
              <a:t>Analysis Report:</a:t>
            </a:r>
          </a:p>
          <a:p>
            <a:pPr marL="0" indent="0" algn="just">
              <a:buNone/>
            </a:pPr>
            <a:r>
              <a:rPr lang="en-GB" sz="2300" noProof="0" dirty="0"/>
              <a:t>The dashboard reveals significant variation in customer satisfaction across aircraft types, indicating that fleet composition plays a critical role in shaping passenger experience. Wide-body aircraft such as the Boeing 747-400 and Airbus A380 show comparatively higher satisfaction, while narrow-body and older configurations tend to underperform. This pattern suggests that cabin layout, seat comfort, onboard amenities, and aircraft age influence customer perception, making fleet strategy a key lever for experience improvement.</a:t>
            </a:r>
          </a:p>
          <a:p>
            <a:pPr marL="0" indent="0" algn="just">
              <a:buNone/>
            </a:pPr>
            <a:r>
              <a:rPr lang="en-GB" sz="2300" noProof="0" dirty="0"/>
              <a:t>These discrepancies imply that passenger expectations differ based on aircraft assignment, particularly on long-haul versus short-haul routes. Higher-performing aircraft likely benefit from superior seating ergonomics, entertainment systems, and cabin ambience, whereas lower-rated aircraft may suffer from outdated interiors or limited onboard features. The data highlights a clear experience gap within the fleet, which risks undermining brand consistency and creating uneven customer journeys across routes.</a:t>
            </a:r>
          </a:p>
          <a:p>
            <a:pPr marL="0" indent="0" algn="just">
              <a:buNone/>
            </a:pPr>
            <a:r>
              <a:rPr lang="en-GB" sz="2300" noProof="0" dirty="0"/>
              <a:t>From a strategic standpoint, aircraft-level experience variation creates both reputational and commercial risk. Customers increasingly compare experiences across carriers and aircraft types, and inconsistent cabin quality may reduce trust, loyalty, and willingness to pay premium fares. This reinforces the importance of targeted fleet modernisation, refurbishment prioritisation, and experience standardisation, ensuring that service quality remains consistent regardless of aircraft assignment.</a:t>
            </a:r>
          </a:p>
        </p:txBody>
      </p:sp>
    </p:spTree>
    <p:extLst>
      <p:ext uri="{BB962C8B-B14F-4D97-AF65-F5344CB8AC3E}">
        <p14:creationId xmlns:p14="http://schemas.microsoft.com/office/powerpoint/2010/main" val="29112156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1AE5E-1B6E-F576-7748-59B3D8422019}"/>
              </a:ext>
            </a:extLst>
          </p:cNvPr>
          <p:cNvSpPr>
            <a:spLocks noGrp="1"/>
          </p:cNvSpPr>
          <p:nvPr>
            <p:ph type="title"/>
          </p:nvPr>
        </p:nvSpPr>
        <p:spPr/>
        <p:txBody>
          <a:bodyPr/>
          <a:lstStyle/>
          <a:p>
            <a:r>
              <a:rPr lang="en-GB" noProof="0" dirty="0"/>
              <a:t>Customer experience by aircraft type – Output Analysis Interpretation (2)</a:t>
            </a:r>
          </a:p>
        </p:txBody>
      </p:sp>
      <p:sp>
        <p:nvSpPr>
          <p:cNvPr id="3" name="Content Placeholder 2">
            <a:extLst>
              <a:ext uri="{FF2B5EF4-FFF2-40B4-BE49-F238E27FC236}">
                <a16:creationId xmlns:a16="http://schemas.microsoft.com/office/drawing/2014/main" id="{82C6C7B4-EEA4-6335-6F6B-A6778B1D9CDC}"/>
              </a:ext>
            </a:extLst>
          </p:cNvPr>
          <p:cNvSpPr>
            <a:spLocks noGrp="1"/>
          </p:cNvSpPr>
          <p:nvPr>
            <p:ph idx="1"/>
          </p:nvPr>
        </p:nvSpPr>
        <p:spPr/>
        <p:txBody>
          <a:bodyPr/>
          <a:lstStyle/>
          <a:p>
            <a:pPr marL="0" indent="0">
              <a:buNone/>
            </a:pPr>
            <a:r>
              <a:rPr lang="en-GB" noProof="0" dirty="0"/>
              <a:t>Key Insights:</a:t>
            </a:r>
          </a:p>
          <a:p>
            <a:pPr algn="just">
              <a:buFont typeface="Wingdings" panose="05000000000000000000" pitchFamily="2" charset="2"/>
              <a:buChar char="Ø"/>
            </a:pPr>
            <a:r>
              <a:rPr lang="en-GB" noProof="0" dirty="0"/>
              <a:t> Customer ratings vary significantly across aircraft types, indicating inconsistent onboard experience.</a:t>
            </a:r>
          </a:p>
          <a:p>
            <a:pPr algn="just">
              <a:buFont typeface="Wingdings" panose="05000000000000000000" pitchFamily="2" charset="2"/>
              <a:buChar char="Ø"/>
            </a:pPr>
            <a:r>
              <a:rPr lang="en-GB" noProof="0" dirty="0"/>
              <a:t> Wide-body aircraft generally achieve higher satisfaction, particularly on long-haul routes.</a:t>
            </a:r>
          </a:p>
          <a:p>
            <a:pPr algn="just">
              <a:buFont typeface="Wingdings" panose="05000000000000000000" pitchFamily="2" charset="2"/>
              <a:buChar char="Ø"/>
            </a:pPr>
            <a:r>
              <a:rPr lang="en-GB" noProof="0" dirty="0"/>
              <a:t> Lower-rated aircraft likely reflect outdated interiors and inferior cabin configurations.</a:t>
            </a:r>
          </a:p>
          <a:p>
            <a:pPr algn="just">
              <a:buFont typeface="Wingdings" panose="05000000000000000000" pitchFamily="2" charset="2"/>
              <a:buChar char="Ø"/>
            </a:pPr>
            <a:r>
              <a:rPr lang="en-GB" noProof="0" dirty="0"/>
              <a:t> Experience inconsistency weakens brand coherence and customer trust.</a:t>
            </a:r>
          </a:p>
          <a:p>
            <a:pPr algn="just">
              <a:buFont typeface="Wingdings" panose="05000000000000000000" pitchFamily="2" charset="2"/>
              <a:buChar char="Ø"/>
            </a:pPr>
            <a:r>
              <a:rPr lang="en-GB" noProof="0" dirty="0"/>
              <a:t> Fleet composition is a critical driver of satisfaction outcomes.</a:t>
            </a:r>
          </a:p>
        </p:txBody>
      </p:sp>
    </p:spTree>
    <p:extLst>
      <p:ext uri="{BB962C8B-B14F-4D97-AF65-F5344CB8AC3E}">
        <p14:creationId xmlns:p14="http://schemas.microsoft.com/office/powerpoint/2010/main" val="175501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80B80-4329-CBCC-177C-52A959F2EF4C}"/>
              </a:ext>
            </a:extLst>
          </p:cNvPr>
          <p:cNvSpPr>
            <a:spLocks noGrp="1"/>
          </p:cNvSpPr>
          <p:nvPr>
            <p:ph type="title"/>
          </p:nvPr>
        </p:nvSpPr>
        <p:spPr/>
        <p:txBody>
          <a:bodyPr/>
          <a:lstStyle/>
          <a:p>
            <a:r>
              <a:rPr lang="en-GB" noProof="0" dirty="0"/>
              <a:t>Customer experience by aircraft type – Output Analysis Interpretation (3)</a:t>
            </a:r>
          </a:p>
        </p:txBody>
      </p:sp>
      <p:sp>
        <p:nvSpPr>
          <p:cNvPr id="3" name="Content Placeholder 2">
            <a:extLst>
              <a:ext uri="{FF2B5EF4-FFF2-40B4-BE49-F238E27FC236}">
                <a16:creationId xmlns:a16="http://schemas.microsoft.com/office/drawing/2014/main" id="{BDEBFFD2-BE88-35D3-8242-4EB70AE760A2}"/>
              </a:ext>
            </a:extLst>
          </p:cNvPr>
          <p:cNvSpPr>
            <a:spLocks noGrp="1"/>
          </p:cNvSpPr>
          <p:nvPr>
            <p:ph idx="1"/>
          </p:nvPr>
        </p:nvSpPr>
        <p:spPr/>
        <p:txBody>
          <a:bodyPr/>
          <a:lstStyle/>
          <a:p>
            <a:pPr marL="0" indent="0">
              <a:buNone/>
            </a:pPr>
            <a:r>
              <a:rPr lang="en-GB" noProof="0" dirty="0"/>
              <a:t>Business Implications:</a:t>
            </a:r>
          </a:p>
          <a:p>
            <a:pPr algn="just">
              <a:buFont typeface="Wingdings" panose="05000000000000000000" pitchFamily="2" charset="2"/>
              <a:buChar char="Ø"/>
            </a:pPr>
            <a:r>
              <a:rPr lang="en-GB" noProof="0" dirty="0"/>
              <a:t> </a:t>
            </a:r>
            <a:r>
              <a:rPr lang="en-GB" b="1" noProof="0" dirty="0"/>
              <a:t>Capital investment prioritisation:</a:t>
            </a:r>
            <a:r>
              <a:rPr lang="en-GB" noProof="0" dirty="0"/>
              <a:t> Aircraft upgrades should focus on experience impact, not only operational efficiency.</a:t>
            </a:r>
          </a:p>
          <a:p>
            <a:pPr algn="just">
              <a:buFont typeface="Wingdings" panose="05000000000000000000" pitchFamily="2" charset="2"/>
              <a:buChar char="Ø"/>
            </a:pPr>
            <a:r>
              <a:rPr lang="en-GB" noProof="0" dirty="0"/>
              <a:t> </a:t>
            </a:r>
            <a:r>
              <a:rPr lang="en-GB" b="1" noProof="0" dirty="0"/>
              <a:t>Brand risk:</a:t>
            </a:r>
            <a:r>
              <a:rPr lang="en-GB" noProof="0" dirty="0"/>
              <a:t> Inconsistent cabin standards undermine brand positioning and premium perception.</a:t>
            </a:r>
          </a:p>
          <a:p>
            <a:pPr algn="just">
              <a:buFont typeface="Wingdings" panose="05000000000000000000" pitchFamily="2" charset="2"/>
              <a:buChar char="Ø"/>
            </a:pPr>
            <a:r>
              <a:rPr lang="en-GB" noProof="0" dirty="0"/>
              <a:t> </a:t>
            </a:r>
            <a:r>
              <a:rPr lang="en-GB" b="1" noProof="0" dirty="0"/>
              <a:t>Revenue opportunity loss:</a:t>
            </a:r>
            <a:r>
              <a:rPr lang="en-GB" noProof="0" dirty="0"/>
              <a:t> Poorer aircraft experiences reduce upsell potential and willingness to pay.</a:t>
            </a:r>
          </a:p>
          <a:p>
            <a:pPr algn="just">
              <a:buFont typeface="Wingdings" panose="05000000000000000000" pitchFamily="2" charset="2"/>
              <a:buChar char="Ø"/>
            </a:pPr>
            <a:r>
              <a:rPr lang="en-GB" noProof="0" dirty="0"/>
              <a:t> </a:t>
            </a:r>
            <a:r>
              <a:rPr lang="en-GB" b="1" noProof="0" dirty="0"/>
              <a:t>Strategic alignment need:</a:t>
            </a:r>
            <a:r>
              <a:rPr lang="en-GB" noProof="0" dirty="0"/>
              <a:t> Fleet strategy must align with customer experience objectives.</a:t>
            </a:r>
          </a:p>
        </p:txBody>
      </p:sp>
    </p:spTree>
    <p:extLst>
      <p:ext uri="{BB962C8B-B14F-4D97-AF65-F5344CB8AC3E}">
        <p14:creationId xmlns:p14="http://schemas.microsoft.com/office/powerpoint/2010/main" val="868577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45762-2179-3139-8BED-A96DE150FD3F}"/>
              </a:ext>
            </a:extLst>
          </p:cNvPr>
          <p:cNvSpPr>
            <a:spLocks noGrp="1"/>
          </p:cNvSpPr>
          <p:nvPr>
            <p:ph type="title"/>
          </p:nvPr>
        </p:nvSpPr>
        <p:spPr/>
        <p:txBody>
          <a:bodyPr/>
          <a:lstStyle/>
          <a:p>
            <a:r>
              <a:rPr lang="en-GB" noProof="0" dirty="0"/>
              <a:t>Customer experience by aircraft type – Output Analysis Interpretation (4)</a:t>
            </a:r>
          </a:p>
        </p:txBody>
      </p:sp>
      <p:sp>
        <p:nvSpPr>
          <p:cNvPr id="3" name="Content Placeholder 2">
            <a:extLst>
              <a:ext uri="{FF2B5EF4-FFF2-40B4-BE49-F238E27FC236}">
                <a16:creationId xmlns:a16="http://schemas.microsoft.com/office/drawing/2014/main" id="{AB3AC55C-F53C-9833-C3BB-B81BAD72304A}"/>
              </a:ext>
            </a:extLst>
          </p:cNvPr>
          <p:cNvSpPr>
            <a:spLocks noGrp="1"/>
          </p:cNvSpPr>
          <p:nvPr>
            <p:ph idx="1"/>
          </p:nvPr>
        </p:nvSpPr>
        <p:spPr/>
        <p:txBody>
          <a:bodyPr/>
          <a:lstStyle/>
          <a:p>
            <a:pPr marL="0" indent="0">
              <a:buNone/>
            </a:pPr>
            <a:r>
              <a:rPr lang="en-GB" noProof="0" dirty="0"/>
              <a:t>Recommended Strategic Actions:</a:t>
            </a:r>
          </a:p>
          <a:p>
            <a:pPr algn="just">
              <a:buFont typeface="Wingdings" panose="05000000000000000000" pitchFamily="2" charset="2"/>
              <a:buChar char="Ø"/>
            </a:pPr>
            <a:r>
              <a:rPr lang="en-GB" noProof="0" dirty="0"/>
              <a:t> Prioritise refurbishment of lowest-rated aircraft types to rapidly lift baseline experience.</a:t>
            </a:r>
          </a:p>
          <a:p>
            <a:pPr algn="just">
              <a:buFont typeface="Wingdings" panose="05000000000000000000" pitchFamily="2" charset="2"/>
              <a:buChar char="Ø"/>
            </a:pPr>
            <a:r>
              <a:rPr lang="en-GB" noProof="0" dirty="0"/>
              <a:t> Incorporate customer satisfaction metrics into fleet investment decision-making.</a:t>
            </a:r>
          </a:p>
          <a:p>
            <a:pPr algn="just">
              <a:buFont typeface="Wingdings" panose="05000000000000000000" pitchFamily="2" charset="2"/>
              <a:buChar char="Ø"/>
            </a:pPr>
            <a:r>
              <a:rPr lang="en-GB" noProof="0" dirty="0"/>
              <a:t> Standardise cabin experience guidelines across aircraft wherever operationally feasible.</a:t>
            </a:r>
          </a:p>
          <a:p>
            <a:pPr algn="just">
              <a:buFont typeface="Wingdings" panose="05000000000000000000" pitchFamily="2" charset="2"/>
              <a:buChar char="Ø"/>
            </a:pPr>
            <a:r>
              <a:rPr lang="en-GB" noProof="0" dirty="0"/>
              <a:t> Accelerate retirement of persistently underperforming aircraft models.</a:t>
            </a:r>
          </a:p>
          <a:p>
            <a:pPr algn="just">
              <a:buFont typeface="Wingdings" panose="05000000000000000000" pitchFamily="2" charset="2"/>
              <a:buChar char="Ø"/>
            </a:pPr>
            <a:r>
              <a:rPr lang="en-GB" noProof="0" dirty="0"/>
              <a:t> Use aircraft-level feedback to inform interior design and seat configuration strategy.</a:t>
            </a:r>
          </a:p>
        </p:txBody>
      </p:sp>
    </p:spTree>
    <p:extLst>
      <p:ext uri="{BB962C8B-B14F-4D97-AF65-F5344CB8AC3E}">
        <p14:creationId xmlns:p14="http://schemas.microsoft.com/office/powerpoint/2010/main" val="14862101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68442-ED4D-62E9-3672-8B85DB8FD982}"/>
              </a:ext>
            </a:extLst>
          </p:cNvPr>
          <p:cNvSpPr>
            <a:spLocks noGrp="1"/>
          </p:cNvSpPr>
          <p:nvPr>
            <p:ph type="title"/>
          </p:nvPr>
        </p:nvSpPr>
        <p:spPr/>
        <p:txBody>
          <a:bodyPr/>
          <a:lstStyle/>
          <a:p>
            <a:r>
              <a:rPr lang="en-GB" noProof="0" dirty="0"/>
              <a:t>Market-level satisfaction differences – Output Analysis Interpretation (1)</a:t>
            </a:r>
          </a:p>
        </p:txBody>
      </p:sp>
      <p:sp>
        <p:nvSpPr>
          <p:cNvPr id="3" name="Content Placeholder 2">
            <a:extLst>
              <a:ext uri="{FF2B5EF4-FFF2-40B4-BE49-F238E27FC236}">
                <a16:creationId xmlns:a16="http://schemas.microsoft.com/office/drawing/2014/main" id="{5731D1DA-22AD-AB2F-E1A6-04DF4C6A6B0B}"/>
              </a:ext>
            </a:extLst>
          </p:cNvPr>
          <p:cNvSpPr>
            <a:spLocks noGrp="1"/>
          </p:cNvSpPr>
          <p:nvPr>
            <p:ph idx="1"/>
          </p:nvPr>
        </p:nvSpPr>
        <p:spPr/>
        <p:txBody>
          <a:bodyPr>
            <a:normAutofit fontScale="77500" lnSpcReduction="20000"/>
          </a:bodyPr>
          <a:lstStyle/>
          <a:p>
            <a:pPr marL="0" indent="0">
              <a:buNone/>
            </a:pPr>
            <a:r>
              <a:rPr lang="en-GB" sz="2600" noProof="0" dirty="0"/>
              <a:t>Analysis Report:</a:t>
            </a:r>
          </a:p>
          <a:p>
            <a:pPr marL="0" indent="0" algn="just">
              <a:buNone/>
            </a:pPr>
            <a:r>
              <a:rPr lang="en-GB" sz="2300" noProof="0" dirty="0"/>
              <a:t>The dashboard highlights clear geographic disparities in customer satisfaction, indicating that service quality and operational performance vary meaningfully across regions. Certain countries consistently outperform others, suggesting differences in airport infrastructure quality, local operational execution, crew deployment, and partner service standards. This uneven performance exposes structural challenges in maintaining globally consistent service levels.</a:t>
            </a:r>
          </a:p>
          <a:p>
            <a:pPr marL="0" indent="0" algn="just">
              <a:buNone/>
            </a:pPr>
            <a:r>
              <a:rPr lang="en-GB" sz="2300" noProof="0" dirty="0"/>
              <a:t>These regional variations imply that local factors strongly influence customer experience, including ground handling quality, boarding processes, airport congestion, and regulatory environments. Markets with lower satisfaction may suffer from capacity strain, staffing challenges, or weaker service partnerships, while higher-performing regions likely benefit from more mature operational processes and service ecosystems. This reinforces the need for localised performance management rather than uniform global interventions.</a:t>
            </a:r>
          </a:p>
          <a:p>
            <a:pPr marL="0" indent="0" algn="just">
              <a:buNone/>
            </a:pPr>
            <a:r>
              <a:rPr lang="en-GB" sz="2300" noProof="0" dirty="0"/>
              <a:t>Strategically, geographic disparities represent both a risk and an opportunity. Underperforming markets threaten brand reputation and commercial competitiveness, while high-performing regions offer best-practice benchmarks that can be scaled across the network. Addressing geographic inconsistency is essential for building a cohesive global brand promise and ensuring uniform service excellence.</a:t>
            </a:r>
          </a:p>
          <a:p>
            <a:pPr marL="0" indent="0" algn="just">
              <a:buNone/>
            </a:pPr>
            <a:endParaRPr lang="en-GB" noProof="0" dirty="0"/>
          </a:p>
          <a:p>
            <a:pPr marL="0" indent="0">
              <a:buNone/>
            </a:pPr>
            <a:endParaRPr lang="en-GB" noProof="0" dirty="0"/>
          </a:p>
        </p:txBody>
      </p:sp>
    </p:spTree>
    <p:extLst>
      <p:ext uri="{BB962C8B-B14F-4D97-AF65-F5344CB8AC3E}">
        <p14:creationId xmlns:p14="http://schemas.microsoft.com/office/powerpoint/2010/main" val="33576965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FC9D7-16C7-1E0C-1EBE-E2C6AA5A7F99}"/>
              </a:ext>
            </a:extLst>
          </p:cNvPr>
          <p:cNvSpPr>
            <a:spLocks noGrp="1"/>
          </p:cNvSpPr>
          <p:nvPr>
            <p:ph type="title"/>
          </p:nvPr>
        </p:nvSpPr>
        <p:spPr/>
        <p:txBody>
          <a:bodyPr/>
          <a:lstStyle/>
          <a:p>
            <a:r>
              <a:rPr lang="en-GB" noProof="0" dirty="0"/>
              <a:t>Market-level satisfaction differences – Output Analysis Interpretation (2)</a:t>
            </a:r>
          </a:p>
        </p:txBody>
      </p:sp>
      <p:sp>
        <p:nvSpPr>
          <p:cNvPr id="3" name="Content Placeholder 2">
            <a:extLst>
              <a:ext uri="{FF2B5EF4-FFF2-40B4-BE49-F238E27FC236}">
                <a16:creationId xmlns:a16="http://schemas.microsoft.com/office/drawing/2014/main" id="{8E386470-EE6E-68CC-13C1-7FE0A07C5CA1}"/>
              </a:ext>
            </a:extLst>
          </p:cNvPr>
          <p:cNvSpPr>
            <a:spLocks noGrp="1"/>
          </p:cNvSpPr>
          <p:nvPr>
            <p:ph idx="1"/>
          </p:nvPr>
        </p:nvSpPr>
        <p:spPr/>
        <p:txBody>
          <a:bodyPr/>
          <a:lstStyle/>
          <a:p>
            <a:pPr marL="0" indent="0">
              <a:buNone/>
            </a:pPr>
            <a:r>
              <a:rPr lang="en-GB" noProof="0" dirty="0"/>
              <a:t>Key Insights:</a:t>
            </a:r>
          </a:p>
          <a:p>
            <a:pPr algn="just">
              <a:buFont typeface="Wingdings" panose="05000000000000000000" pitchFamily="2" charset="2"/>
              <a:buChar char="Ø"/>
            </a:pPr>
            <a:r>
              <a:rPr lang="en-GB" noProof="0" dirty="0"/>
              <a:t> Customer satisfaction varies substantially by country, reflecting uneven service execution.</a:t>
            </a:r>
          </a:p>
          <a:p>
            <a:pPr algn="just">
              <a:buFont typeface="Wingdings" panose="05000000000000000000" pitchFamily="2" charset="2"/>
              <a:buChar char="Ø"/>
            </a:pPr>
            <a:r>
              <a:rPr lang="en-GB" noProof="0" dirty="0"/>
              <a:t> Local operational conditions significantly influence customer perception.</a:t>
            </a:r>
          </a:p>
          <a:p>
            <a:pPr algn="just">
              <a:buFont typeface="Wingdings" panose="05000000000000000000" pitchFamily="2" charset="2"/>
              <a:buChar char="Ø"/>
            </a:pPr>
            <a:r>
              <a:rPr lang="en-GB" noProof="0" dirty="0"/>
              <a:t> Some regions act as best-practice benchmarks, while others require targeted intervention.</a:t>
            </a:r>
          </a:p>
          <a:p>
            <a:pPr algn="just">
              <a:buFont typeface="Wingdings" panose="05000000000000000000" pitchFamily="2" charset="2"/>
              <a:buChar char="Ø"/>
            </a:pPr>
            <a:r>
              <a:rPr lang="en-GB" noProof="0" dirty="0"/>
              <a:t> Geographic inconsistency undermines brand coherence.</a:t>
            </a:r>
          </a:p>
          <a:p>
            <a:pPr algn="just">
              <a:buFont typeface="Wingdings" panose="05000000000000000000" pitchFamily="2" charset="2"/>
              <a:buChar char="Ø"/>
            </a:pPr>
            <a:r>
              <a:rPr lang="en-GB" noProof="0" dirty="0"/>
              <a:t> Localised improvement strategies are more effective than broad global initiatives.</a:t>
            </a:r>
          </a:p>
        </p:txBody>
      </p:sp>
    </p:spTree>
    <p:extLst>
      <p:ext uri="{BB962C8B-B14F-4D97-AF65-F5344CB8AC3E}">
        <p14:creationId xmlns:p14="http://schemas.microsoft.com/office/powerpoint/2010/main" val="35896035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5A673-6B74-708A-03DB-F13070726020}"/>
              </a:ext>
            </a:extLst>
          </p:cNvPr>
          <p:cNvSpPr>
            <a:spLocks noGrp="1"/>
          </p:cNvSpPr>
          <p:nvPr>
            <p:ph type="title"/>
          </p:nvPr>
        </p:nvSpPr>
        <p:spPr/>
        <p:txBody>
          <a:bodyPr/>
          <a:lstStyle/>
          <a:p>
            <a:r>
              <a:rPr lang="en-GB" noProof="0" dirty="0"/>
              <a:t>Market-level satisfaction differences – Output Analysis Interpretation (3)</a:t>
            </a:r>
          </a:p>
        </p:txBody>
      </p:sp>
      <p:sp>
        <p:nvSpPr>
          <p:cNvPr id="3" name="Content Placeholder 2">
            <a:extLst>
              <a:ext uri="{FF2B5EF4-FFF2-40B4-BE49-F238E27FC236}">
                <a16:creationId xmlns:a16="http://schemas.microsoft.com/office/drawing/2014/main" id="{29E04DCF-7FC2-3D62-E479-D7F4C81C64B1}"/>
              </a:ext>
            </a:extLst>
          </p:cNvPr>
          <p:cNvSpPr>
            <a:spLocks noGrp="1"/>
          </p:cNvSpPr>
          <p:nvPr>
            <p:ph idx="1"/>
          </p:nvPr>
        </p:nvSpPr>
        <p:spPr/>
        <p:txBody>
          <a:bodyPr/>
          <a:lstStyle/>
          <a:p>
            <a:pPr marL="0" indent="0">
              <a:buNone/>
            </a:pPr>
            <a:r>
              <a:rPr lang="en-GB" noProof="0" dirty="0"/>
              <a:t>Business Implications:</a:t>
            </a:r>
          </a:p>
          <a:p>
            <a:pPr algn="just">
              <a:buFont typeface="Wingdings" panose="05000000000000000000" pitchFamily="2" charset="2"/>
              <a:buChar char="Ø"/>
            </a:pPr>
            <a:r>
              <a:rPr lang="en-GB" noProof="0" dirty="0"/>
              <a:t> </a:t>
            </a:r>
            <a:r>
              <a:rPr lang="en-GB" b="1" noProof="0" dirty="0"/>
              <a:t>Reputational exposure:</a:t>
            </a:r>
            <a:r>
              <a:rPr lang="en-GB" noProof="0" dirty="0"/>
              <a:t> Poor-performing regions negatively impact global brand perception.</a:t>
            </a:r>
          </a:p>
          <a:p>
            <a:pPr algn="just">
              <a:buFont typeface="Wingdings" panose="05000000000000000000" pitchFamily="2" charset="2"/>
              <a:buChar char="Ø"/>
            </a:pPr>
            <a:r>
              <a:rPr lang="en-GB" noProof="0" dirty="0"/>
              <a:t> </a:t>
            </a:r>
            <a:r>
              <a:rPr lang="en-GB" b="1" noProof="0" dirty="0"/>
              <a:t>Commercial disadvantage:</a:t>
            </a:r>
            <a:r>
              <a:rPr lang="en-GB" noProof="0" dirty="0"/>
              <a:t> Lower satisfaction weakens competitiveness in key markets.</a:t>
            </a:r>
          </a:p>
          <a:p>
            <a:pPr algn="just">
              <a:buFont typeface="Wingdings" panose="05000000000000000000" pitchFamily="2" charset="2"/>
              <a:buChar char="Ø"/>
            </a:pPr>
            <a:r>
              <a:rPr lang="en-GB" noProof="0" dirty="0"/>
              <a:t> </a:t>
            </a:r>
            <a:r>
              <a:rPr lang="en-GB" b="1" noProof="0" dirty="0"/>
              <a:t>Operational complexity:</a:t>
            </a:r>
            <a:r>
              <a:rPr lang="en-GB" noProof="0" dirty="0"/>
              <a:t> Diverse regional conditions require tailored operational strategies.</a:t>
            </a:r>
          </a:p>
          <a:p>
            <a:pPr algn="just">
              <a:buFont typeface="Wingdings" panose="05000000000000000000" pitchFamily="2" charset="2"/>
              <a:buChar char="Ø"/>
            </a:pPr>
            <a:r>
              <a:rPr lang="en-GB" noProof="0" dirty="0"/>
              <a:t> </a:t>
            </a:r>
            <a:r>
              <a:rPr lang="en-GB" b="1" noProof="0" dirty="0"/>
              <a:t>Strategic leverage:</a:t>
            </a:r>
            <a:r>
              <a:rPr lang="en-GB" noProof="0" dirty="0"/>
              <a:t> High-performing markets offer replicable service excellence models.</a:t>
            </a:r>
          </a:p>
        </p:txBody>
      </p:sp>
    </p:spTree>
    <p:extLst>
      <p:ext uri="{BB962C8B-B14F-4D97-AF65-F5344CB8AC3E}">
        <p14:creationId xmlns:p14="http://schemas.microsoft.com/office/powerpoint/2010/main" val="30211155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E024E-000F-5B3B-2A8B-2914E51638BE}"/>
              </a:ext>
            </a:extLst>
          </p:cNvPr>
          <p:cNvSpPr>
            <a:spLocks noGrp="1"/>
          </p:cNvSpPr>
          <p:nvPr>
            <p:ph type="title"/>
          </p:nvPr>
        </p:nvSpPr>
        <p:spPr/>
        <p:txBody>
          <a:bodyPr/>
          <a:lstStyle/>
          <a:p>
            <a:r>
              <a:rPr lang="en-GB" noProof="0" dirty="0"/>
              <a:t>Market-level satisfaction differences – Output Analysis Interpretation (4)</a:t>
            </a:r>
          </a:p>
        </p:txBody>
      </p:sp>
      <p:sp>
        <p:nvSpPr>
          <p:cNvPr id="3" name="Content Placeholder 2">
            <a:extLst>
              <a:ext uri="{FF2B5EF4-FFF2-40B4-BE49-F238E27FC236}">
                <a16:creationId xmlns:a16="http://schemas.microsoft.com/office/drawing/2014/main" id="{276ACD86-4E54-6386-BA73-E899E14A7D22}"/>
              </a:ext>
            </a:extLst>
          </p:cNvPr>
          <p:cNvSpPr>
            <a:spLocks noGrp="1"/>
          </p:cNvSpPr>
          <p:nvPr>
            <p:ph idx="1"/>
          </p:nvPr>
        </p:nvSpPr>
        <p:spPr/>
        <p:txBody>
          <a:bodyPr/>
          <a:lstStyle/>
          <a:p>
            <a:pPr marL="0" indent="0">
              <a:buNone/>
            </a:pPr>
            <a:r>
              <a:rPr lang="en-GB" noProof="0" dirty="0"/>
              <a:t>Recommended Strategic Actions:</a:t>
            </a:r>
          </a:p>
          <a:p>
            <a:pPr algn="just">
              <a:buFont typeface="Wingdings" panose="05000000000000000000" pitchFamily="2" charset="2"/>
              <a:buChar char="Ø"/>
            </a:pPr>
            <a:r>
              <a:rPr lang="en-GB" noProof="0" dirty="0"/>
              <a:t> Conduct regional deep-dive diagnostics to isolate root causes of dissatisfaction.</a:t>
            </a:r>
          </a:p>
          <a:p>
            <a:pPr algn="just">
              <a:buFont typeface="Wingdings" panose="05000000000000000000" pitchFamily="2" charset="2"/>
              <a:buChar char="Ø"/>
            </a:pPr>
            <a:r>
              <a:rPr lang="en-GB" noProof="0" dirty="0"/>
              <a:t> Deploy targeted operational improvement programs in lowest-performing markets.</a:t>
            </a:r>
          </a:p>
          <a:p>
            <a:pPr algn="just">
              <a:buFont typeface="Wingdings" panose="05000000000000000000" pitchFamily="2" charset="2"/>
              <a:buChar char="Ø"/>
            </a:pPr>
            <a:r>
              <a:rPr lang="en-GB" noProof="0" dirty="0"/>
              <a:t> Replicate best practices from high-performing regions across the network.</a:t>
            </a:r>
          </a:p>
          <a:p>
            <a:pPr algn="just">
              <a:buFont typeface="Wingdings" panose="05000000000000000000" pitchFamily="2" charset="2"/>
              <a:buChar char="Ø"/>
            </a:pPr>
            <a:r>
              <a:rPr lang="en-GB" noProof="0" dirty="0"/>
              <a:t> Strengthen local accountability structures for service quality delivery.</a:t>
            </a:r>
          </a:p>
          <a:p>
            <a:pPr algn="just">
              <a:buFont typeface="Wingdings" panose="05000000000000000000" pitchFamily="2" charset="2"/>
              <a:buChar char="Ø"/>
            </a:pPr>
            <a:r>
              <a:rPr lang="en-GB" noProof="0" dirty="0"/>
              <a:t> Align airport partner performance metrics with customer satisfaction Key Performance Indicators (KPI).</a:t>
            </a:r>
          </a:p>
        </p:txBody>
      </p:sp>
    </p:spTree>
    <p:extLst>
      <p:ext uri="{BB962C8B-B14F-4D97-AF65-F5344CB8AC3E}">
        <p14:creationId xmlns:p14="http://schemas.microsoft.com/office/powerpoint/2010/main" val="1698897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C6BDC-CE62-9F24-25C5-BBA6544E6216}"/>
              </a:ext>
            </a:extLst>
          </p:cNvPr>
          <p:cNvSpPr>
            <a:spLocks noGrp="1"/>
          </p:cNvSpPr>
          <p:nvPr>
            <p:ph type="title"/>
          </p:nvPr>
        </p:nvSpPr>
        <p:spPr/>
        <p:txBody>
          <a:bodyPr>
            <a:noAutofit/>
          </a:bodyPr>
          <a:lstStyle/>
          <a:p>
            <a:r>
              <a:rPr lang="en-GB" sz="4000" noProof="0" dirty="0"/>
              <a:t>Drivers of customer satisfaction and dissatisfaction – Output Analysis Interpretation (1)</a:t>
            </a:r>
          </a:p>
        </p:txBody>
      </p:sp>
      <p:sp>
        <p:nvSpPr>
          <p:cNvPr id="3" name="Content Placeholder 2">
            <a:extLst>
              <a:ext uri="{FF2B5EF4-FFF2-40B4-BE49-F238E27FC236}">
                <a16:creationId xmlns:a16="http://schemas.microsoft.com/office/drawing/2014/main" id="{841970CC-BB34-D805-1518-A22A9CB19401}"/>
              </a:ext>
            </a:extLst>
          </p:cNvPr>
          <p:cNvSpPr>
            <a:spLocks noGrp="1"/>
          </p:cNvSpPr>
          <p:nvPr>
            <p:ph idx="1"/>
          </p:nvPr>
        </p:nvSpPr>
        <p:spPr/>
        <p:txBody>
          <a:bodyPr>
            <a:normAutofit fontScale="92500" lnSpcReduction="20000"/>
          </a:bodyPr>
          <a:lstStyle/>
          <a:p>
            <a:pPr marL="0" indent="0">
              <a:buNone/>
            </a:pPr>
            <a:r>
              <a:rPr lang="en-GB" noProof="0" dirty="0"/>
              <a:t>Analysis Report:</a:t>
            </a:r>
          </a:p>
          <a:p>
            <a:pPr marL="0" indent="0" algn="just">
              <a:buNone/>
            </a:pPr>
            <a:r>
              <a:rPr lang="en-GB" noProof="0" dirty="0"/>
              <a:t>The dashboard indicates that service dimension ratings vary widely, with cabin staff service and ground service performing relatively better, while entertainment, food and beverage, seat comfort, and value for money significantly underperform. This suggests that dissatisfaction is driven primarily by product quality and physical comfort factors, rather than interpersonal service alone.</a:t>
            </a:r>
          </a:p>
          <a:p>
            <a:pPr marL="0" indent="0" algn="just">
              <a:buNone/>
            </a:pPr>
            <a:r>
              <a:rPr lang="en-GB" noProof="0" dirty="0"/>
              <a:t>These findings imply that onboard product elements increasingly shape passenger perceptions, especially on longer routes where comfort and entertainment expectations are elevated. The extremely low entertainment rating highlights a critical experience gap, potentially driven by outdated systems, limited content, or reliability issues. Similarly, weak food and beverage scores indicate misalignment between customer expectations and onboard offering quality.</a:t>
            </a:r>
          </a:p>
          <a:p>
            <a:pPr marL="0" indent="0" algn="just">
              <a:buNone/>
            </a:pPr>
            <a:r>
              <a:rPr lang="en-GB" noProof="0" dirty="0"/>
              <a:t>From a strategic standpoint, these service discrepancies pose a direct threat to loyalty and revenue generation, particularly in premium and long-haul segments. Improving these core service dimensions presents high-leverage opportunities, as targeted investments could deliver disproportionate gains in overall satisfaction, brand perception, and customer lifetime value.</a:t>
            </a:r>
          </a:p>
          <a:p>
            <a:pPr marL="0" indent="0" algn="just">
              <a:buNone/>
            </a:pPr>
            <a:endParaRPr lang="en-GB" noProof="0" dirty="0"/>
          </a:p>
          <a:p>
            <a:pPr marL="0" indent="0" algn="just">
              <a:buNone/>
            </a:pPr>
            <a:endParaRPr lang="en-GB" noProof="0" dirty="0"/>
          </a:p>
          <a:p>
            <a:pPr marL="0" indent="0">
              <a:buNone/>
            </a:pPr>
            <a:endParaRPr lang="en-GB" noProof="0" dirty="0"/>
          </a:p>
        </p:txBody>
      </p:sp>
    </p:spTree>
    <p:extLst>
      <p:ext uri="{BB962C8B-B14F-4D97-AF65-F5344CB8AC3E}">
        <p14:creationId xmlns:p14="http://schemas.microsoft.com/office/powerpoint/2010/main" val="10757590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F6430-8862-3576-F4C2-17DF59494757}"/>
              </a:ext>
            </a:extLst>
          </p:cNvPr>
          <p:cNvSpPr>
            <a:spLocks noGrp="1"/>
          </p:cNvSpPr>
          <p:nvPr>
            <p:ph type="title"/>
          </p:nvPr>
        </p:nvSpPr>
        <p:spPr/>
        <p:txBody>
          <a:bodyPr/>
          <a:lstStyle/>
          <a:p>
            <a:r>
              <a:rPr kumimoji="0" lang="en-GB" sz="4000" b="0" i="0" u="none" strike="noStrike" kern="1200" cap="all" spc="100" normalizeH="0" baseline="0" noProof="0" dirty="0">
                <a:ln>
                  <a:noFill/>
                </a:ln>
                <a:solidFill>
                  <a:srgbClr val="FFFFFF">
                    <a:lumMod val="95000"/>
                    <a:lumOff val="5000"/>
                  </a:srgbClr>
                </a:solidFill>
                <a:effectLst/>
                <a:uLnTx/>
                <a:uFillTx/>
                <a:latin typeface="Tw Cen MT Condensed" panose="020B0606020104020203"/>
                <a:ea typeface="+mj-ea"/>
                <a:cs typeface="+mj-cs"/>
              </a:rPr>
              <a:t>Drivers of customer satisfaction and dissatisfaction – Output Analysis Interpretation (2)</a:t>
            </a:r>
            <a:endParaRPr lang="en-GB" noProof="0" dirty="0"/>
          </a:p>
        </p:txBody>
      </p:sp>
      <p:sp>
        <p:nvSpPr>
          <p:cNvPr id="3" name="Content Placeholder 2">
            <a:extLst>
              <a:ext uri="{FF2B5EF4-FFF2-40B4-BE49-F238E27FC236}">
                <a16:creationId xmlns:a16="http://schemas.microsoft.com/office/drawing/2014/main" id="{F02D902B-8308-B12C-C906-C02452CAE39A}"/>
              </a:ext>
            </a:extLst>
          </p:cNvPr>
          <p:cNvSpPr>
            <a:spLocks noGrp="1"/>
          </p:cNvSpPr>
          <p:nvPr>
            <p:ph idx="1"/>
          </p:nvPr>
        </p:nvSpPr>
        <p:spPr/>
        <p:txBody>
          <a:bodyPr/>
          <a:lstStyle/>
          <a:p>
            <a:pPr marL="0" indent="0">
              <a:buNone/>
            </a:pPr>
            <a:r>
              <a:rPr lang="en-GB" noProof="0" dirty="0"/>
              <a:t>Key Insights:</a:t>
            </a:r>
          </a:p>
          <a:p>
            <a:pPr algn="just">
              <a:buFont typeface="Wingdings" panose="05000000000000000000" pitchFamily="2" charset="2"/>
              <a:buChar char="Ø"/>
            </a:pPr>
            <a:r>
              <a:rPr lang="en-GB" noProof="0" dirty="0"/>
              <a:t> Entertainment is the lowest-rated service dimension, representing a major experience gap.</a:t>
            </a:r>
          </a:p>
          <a:p>
            <a:pPr algn="just">
              <a:buFont typeface="Wingdings" panose="05000000000000000000" pitchFamily="2" charset="2"/>
              <a:buChar char="Ø"/>
            </a:pPr>
            <a:r>
              <a:rPr lang="en-GB" noProof="0" dirty="0"/>
              <a:t> Food, beverage and seat comfort also significantly underperform in terms of expectations.</a:t>
            </a:r>
          </a:p>
          <a:p>
            <a:pPr algn="just">
              <a:buFont typeface="Wingdings" panose="05000000000000000000" pitchFamily="2" charset="2"/>
              <a:buChar char="Ø"/>
            </a:pPr>
            <a:r>
              <a:rPr lang="en-GB" noProof="0" dirty="0"/>
              <a:t> Interpersonal service performs comparatively better.</a:t>
            </a:r>
          </a:p>
          <a:p>
            <a:pPr algn="just">
              <a:buFont typeface="Wingdings" panose="05000000000000000000" pitchFamily="2" charset="2"/>
              <a:buChar char="Ø"/>
            </a:pPr>
            <a:r>
              <a:rPr lang="en-GB" noProof="0" dirty="0"/>
              <a:t> Onboard product quality now dominates satisfaction outcomes.</a:t>
            </a:r>
          </a:p>
          <a:p>
            <a:pPr algn="just">
              <a:buFont typeface="Wingdings" panose="05000000000000000000" pitchFamily="2" charset="2"/>
              <a:buChar char="Ø"/>
            </a:pPr>
            <a:r>
              <a:rPr lang="en-GB" noProof="0" dirty="0"/>
              <a:t> Targeted improvements can generate high-impact experience gains.</a:t>
            </a:r>
          </a:p>
        </p:txBody>
      </p:sp>
    </p:spTree>
    <p:extLst>
      <p:ext uri="{BB962C8B-B14F-4D97-AF65-F5344CB8AC3E}">
        <p14:creationId xmlns:p14="http://schemas.microsoft.com/office/powerpoint/2010/main" val="1305257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26597-43CB-6AB1-A6E8-40EEB3E723E2}"/>
              </a:ext>
            </a:extLst>
          </p:cNvPr>
          <p:cNvSpPr>
            <a:spLocks noGrp="1"/>
          </p:cNvSpPr>
          <p:nvPr>
            <p:ph type="title"/>
          </p:nvPr>
        </p:nvSpPr>
        <p:spPr/>
        <p:txBody>
          <a:bodyPr/>
          <a:lstStyle/>
          <a:p>
            <a:r>
              <a:rPr kumimoji="0" lang="en-GB" sz="4000" b="0" i="0" u="none" strike="noStrike" kern="1200" cap="all" spc="100" normalizeH="0" baseline="0" noProof="0" dirty="0">
                <a:ln>
                  <a:noFill/>
                </a:ln>
                <a:solidFill>
                  <a:srgbClr val="FFFFFF">
                    <a:lumMod val="95000"/>
                    <a:lumOff val="5000"/>
                  </a:srgbClr>
                </a:solidFill>
                <a:effectLst/>
                <a:uLnTx/>
                <a:uFillTx/>
                <a:latin typeface="Tw Cen MT Condensed" panose="020B0606020104020203"/>
                <a:ea typeface="+mj-ea"/>
                <a:cs typeface="+mj-cs"/>
              </a:rPr>
              <a:t>Drivers of customer satisfaction and dissatisfaction – Output Analysis Interpretation (3)</a:t>
            </a:r>
            <a:endParaRPr lang="en-GB" noProof="0" dirty="0"/>
          </a:p>
        </p:txBody>
      </p:sp>
      <p:sp>
        <p:nvSpPr>
          <p:cNvPr id="3" name="Content Placeholder 2">
            <a:extLst>
              <a:ext uri="{FF2B5EF4-FFF2-40B4-BE49-F238E27FC236}">
                <a16:creationId xmlns:a16="http://schemas.microsoft.com/office/drawing/2014/main" id="{7A5C8273-B5D2-75E3-B151-FEA389141A77}"/>
              </a:ext>
            </a:extLst>
          </p:cNvPr>
          <p:cNvSpPr>
            <a:spLocks noGrp="1"/>
          </p:cNvSpPr>
          <p:nvPr>
            <p:ph idx="1"/>
          </p:nvPr>
        </p:nvSpPr>
        <p:spPr/>
        <p:txBody>
          <a:bodyPr/>
          <a:lstStyle/>
          <a:p>
            <a:pPr marL="0" indent="0">
              <a:buNone/>
            </a:pPr>
            <a:r>
              <a:rPr lang="en-GB" noProof="0" dirty="0"/>
              <a:t>Business Implications:</a:t>
            </a:r>
          </a:p>
          <a:p>
            <a:pPr algn="just">
              <a:buFont typeface="Wingdings" panose="05000000000000000000" pitchFamily="2" charset="2"/>
              <a:buChar char="Ø"/>
            </a:pPr>
            <a:r>
              <a:rPr lang="en-GB" noProof="0" dirty="0"/>
              <a:t> </a:t>
            </a:r>
            <a:r>
              <a:rPr lang="en-GB" b="1" noProof="0" dirty="0"/>
              <a:t>Customer churn risk:</a:t>
            </a:r>
            <a:r>
              <a:rPr lang="en-GB" noProof="0" dirty="0"/>
              <a:t> Poor core experience weakens loyalty and repeat purchase intent.</a:t>
            </a:r>
          </a:p>
          <a:p>
            <a:pPr algn="just">
              <a:buFont typeface="Wingdings" panose="05000000000000000000" pitchFamily="2" charset="2"/>
              <a:buChar char="Ø"/>
            </a:pPr>
            <a:r>
              <a:rPr lang="en-GB" noProof="0" dirty="0"/>
              <a:t> </a:t>
            </a:r>
            <a:r>
              <a:rPr lang="en-GB" b="1" noProof="0" dirty="0"/>
              <a:t>Premium revenue erosion:</a:t>
            </a:r>
            <a:r>
              <a:rPr lang="en-GB" noProof="0" dirty="0"/>
              <a:t> Suboptimal comfort and entertainment reduce upsell success.</a:t>
            </a:r>
          </a:p>
          <a:p>
            <a:pPr algn="just">
              <a:buFont typeface="Wingdings" panose="05000000000000000000" pitchFamily="2" charset="2"/>
              <a:buChar char="Ø"/>
            </a:pPr>
            <a:r>
              <a:rPr lang="en-GB" noProof="0" dirty="0"/>
              <a:t> </a:t>
            </a:r>
            <a:r>
              <a:rPr lang="en-GB" b="1" noProof="0" dirty="0"/>
              <a:t>Brand dilution:</a:t>
            </a:r>
            <a:r>
              <a:rPr lang="en-GB" noProof="0" dirty="0"/>
              <a:t> Weak service fundamentals damage premium positioning.</a:t>
            </a:r>
          </a:p>
          <a:p>
            <a:pPr algn="just">
              <a:buFont typeface="Wingdings" panose="05000000000000000000" pitchFamily="2" charset="2"/>
              <a:buChar char="Ø"/>
            </a:pPr>
            <a:r>
              <a:rPr lang="en-GB" noProof="0" dirty="0"/>
              <a:t> </a:t>
            </a:r>
            <a:r>
              <a:rPr lang="en-GB" b="1" noProof="0" dirty="0"/>
              <a:t>High Return Of Investment (ROI) potential:</a:t>
            </a:r>
            <a:r>
              <a:rPr lang="en-GB" noProof="0" dirty="0"/>
              <a:t> Service upgrades can deliver significantly larger satisfaction improvements.</a:t>
            </a:r>
          </a:p>
        </p:txBody>
      </p:sp>
    </p:spTree>
    <p:extLst>
      <p:ext uri="{BB962C8B-B14F-4D97-AF65-F5344CB8AC3E}">
        <p14:creationId xmlns:p14="http://schemas.microsoft.com/office/powerpoint/2010/main" val="28067192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90064-2D7B-6539-8160-C7E11FDAABCB}"/>
              </a:ext>
            </a:extLst>
          </p:cNvPr>
          <p:cNvSpPr>
            <a:spLocks noGrp="1"/>
          </p:cNvSpPr>
          <p:nvPr>
            <p:ph type="title"/>
          </p:nvPr>
        </p:nvSpPr>
        <p:spPr/>
        <p:txBody>
          <a:bodyPr/>
          <a:lstStyle/>
          <a:p>
            <a:r>
              <a:rPr kumimoji="0" lang="en-GB" sz="4000" b="0" i="0" u="none" strike="noStrike" kern="1200" cap="all" spc="100" normalizeH="0" baseline="0" noProof="0" dirty="0">
                <a:ln>
                  <a:noFill/>
                </a:ln>
                <a:solidFill>
                  <a:srgbClr val="FFFFFF">
                    <a:lumMod val="95000"/>
                    <a:lumOff val="5000"/>
                  </a:srgbClr>
                </a:solidFill>
                <a:effectLst/>
                <a:uLnTx/>
                <a:uFillTx/>
                <a:latin typeface="Tw Cen MT Condensed" panose="020B0606020104020203"/>
                <a:ea typeface="+mj-ea"/>
                <a:cs typeface="+mj-cs"/>
              </a:rPr>
              <a:t>Drivers of customer satisfaction and dissatisfaction – Output Analysis Interpretation (4)</a:t>
            </a:r>
            <a:endParaRPr lang="en-GB" noProof="0" dirty="0"/>
          </a:p>
        </p:txBody>
      </p:sp>
      <p:sp>
        <p:nvSpPr>
          <p:cNvPr id="3" name="Content Placeholder 2">
            <a:extLst>
              <a:ext uri="{FF2B5EF4-FFF2-40B4-BE49-F238E27FC236}">
                <a16:creationId xmlns:a16="http://schemas.microsoft.com/office/drawing/2014/main" id="{B71596D0-0A5D-1E7A-E95A-87EBF69B4720}"/>
              </a:ext>
            </a:extLst>
          </p:cNvPr>
          <p:cNvSpPr>
            <a:spLocks noGrp="1"/>
          </p:cNvSpPr>
          <p:nvPr>
            <p:ph idx="1"/>
          </p:nvPr>
        </p:nvSpPr>
        <p:spPr/>
        <p:txBody>
          <a:bodyPr/>
          <a:lstStyle/>
          <a:p>
            <a:pPr marL="0" indent="0">
              <a:buNone/>
            </a:pPr>
            <a:r>
              <a:rPr lang="en-GB" noProof="0" dirty="0"/>
              <a:t>Recommended Strategic Actions:</a:t>
            </a:r>
          </a:p>
          <a:p>
            <a:pPr>
              <a:buFont typeface="Wingdings" panose="05000000000000000000" pitchFamily="2" charset="2"/>
              <a:buChar char="Ø"/>
            </a:pPr>
            <a:r>
              <a:rPr lang="en-GB" noProof="0" dirty="0"/>
              <a:t> Prioritise inflight entertainment system upgrades, focusing on reliability and content breadth.</a:t>
            </a:r>
          </a:p>
          <a:p>
            <a:pPr>
              <a:buFont typeface="Wingdings" panose="05000000000000000000" pitchFamily="2" charset="2"/>
              <a:buChar char="Ø"/>
            </a:pPr>
            <a:r>
              <a:rPr lang="en-GB" noProof="0" dirty="0"/>
              <a:t> Redesign onboard food and beverage strategy to align with premium customer expectations.</a:t>
            </a:r>
          </a:p>
          <a:p>
            <a:pPr>
              <a:buFont typeface="Wingdings" panose="05000000000000000000" pitchFamily="2" charset="2"/>
              <a:buChar char="Ø"/>
            </a:pPr>
            <a:r>
              <a:rPr lang="en-GB" noProof="0" dirty="0"/>
              <a:t> Accelerate seat comfort enhancement initiatives, especially on long-haul aircraft.</a:t>
            </a:r>
          </a:p>
          <a:p>
            <a:pPr>
              <a:buFont typeface="Wingdings" panose="05000000000000000000" pitchFamily="2" charset="2"/>
              <a:buChar char="Ø"/>
            </a:pPr>
            <a:r>
              <a:rPr lang="en-GB" noProof="0" dirty="0"/>
              <a:t> Re-evaluate value proposition and pricing alignment to improve perceived value for money.</a:t>
            </a:r>
          </a:p>
          <a:p>
            <a:pPr>
              <a:buFont typeface="Wingdings" panose="05000000000000000000" pitchFamily="2" charset="2"/>
              <a:buChar char="Ø"/>
            </a:pPr>
            <a:r>
              <a:rPr lang="en-GB" noProof="0" dirty="0"/>
              <a:t> Introduce continuous monitoring of service dimension Key Performance Indicators (KPI).</a:t>
            </a:r>
          </a:p>
        </p:txBody>
      </p:sp>
    </p:spTree>
    <p:extLst>
      <p:ext uri="{BB962C8B-B14F-4D97-AF65-F5344CB8AC3E}">
        <p14:creationId xmlns:p14="http://schemas.microsoft.com/office/powerpoint/2010/main" val="17958042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ABA29-055F-48A6-641D-8CAC688FB005}"/>
              </a:ext>
            </a:extLst>
          </p:cNvPr>
          <p:cNvSpPr>
            <a:spLocks noGrp="1"/>
          </p:cNvSpPr>
          <p:nvPr>
            <p:ph type="title"/>
          </p:nvPr>
        </p:nvSpPr>
        <p:spPr/>
        <p:txBody>
          <a:bodyPr>
            <a:normAutofit fontScale="90000"/>
          </a:bodyPr>
          <a:lstStyle/>
          <a:p>
            <a:r>
              <a:rPr lang="en-GB" noProof="0" dirty="0"/>
              <a:t>Segment-specific satisfaction dynamics over time – Output Analysis Interpretation (1)</a:t>
            </a:r>
          </a:p>
        </p:txBody>
      </p:sp>
      <p:sp>
        <p:nvSpPr>
          <p:cNvPr id="3" name="Content Placeholder 2">
            <a:extLst>
              <a:ext uri="{FF2B5EF4-FFF2-40B4-BE49-F238E27FC236}">
                <a16:creationId xmlns:a16="http://schemas.microsoft.com/office/drawing/2014/main" id="{D24E80C7-0900-08CC-E024-D3023A43201C}"/>
              </a:ext>
            </a:extLst>
          </p:cNvPr>
          <p:cNvSpPr>
            <a:spLocks noGrp="1"/>
          </p:cNvSpPr>
          <p:nvPr>
            <p:ph idx="1"/>
          </p:nvPr>
        </p:nvSpPr>
        <p:spPr/>
        <p:txBody>
          <a:bodyPr>
            <a:normAutofit fontScale="85000" lnSpcReduction="20000"/>
          </a:bodyPr>
          <a:lstStyle/>
          <a:p>
            <a:pPr marL="0" indent="0">
              <a:buNone/>
            </a:pPr>
            <a:r>
              <a:rPr lang="en-GB" sz="2400" noProof="0" dirty="0"/>
              <a:t>Analysis Report:</a:t>
            </a:r>
          </a:p>
          <a:p>
            <a:pPr marL="0" indent="0" algn="just">
              <a:buNone/>
            </a:pPr>
            <a:r>
              <a:rPr lang="en-GB" noProof="0" dirty="0"/>
              <a:t>The dashboard reveals that customer satisfaction varies materially by traveller type and seat class, underscoring the importance of segmentation in experience design. Premium cabin passengers tend to exhibit higher satisfaction, while economy and certain traveller segments show lower ratings, highlighting unequal experience delivery across customer groups.</a:t>
            </a:r>
          </a:p>
          <a:p>
            <a:pPr marL="0" indent="0" algn="just">
              <a:buNone/>
            </a:pPr>
            <a:r>
              <a:rPr lang="en-GB" noProof="0" dirty="0"/>
              <a:t>These differences suggest that expectation gaps and perceived value vary across segments, particularly between leisure and business travellers, as well as between premium and economy cabins. Lower satisfaction among economy passengers may stem from seat density, limited amenities, and perceived price-value imbalance, while premium customers benefit from enhanced service touchpoints. This highlights the importance of segment-specific experience optimisation rather than one-size-fits-all solutions.</a:t>
            </a:r>
          </a:p>
          <a:p>
            <a:pPr marL="0" indent="0" algn="just">
              <a:buNone/>
            </a:pPr>
            <a:r>
              <a:rPr lang="en-GB" noProof="0" dirty="0"/>
              <a:t>Strategically, segment-based dissatisfaction creates long-term revenue and loyalty risks, particularly in high-volume economy segments that drive load factors. Improving satisfaction in these segments presents a significant opportunity to strengthen loyalty, improve price tolerance, and increase ancillary revenue attachment, reinforcing the need for differentiated experience strategies.</a:t>
            </a:r>
          </a:p>
          <a:p>
            <a:pPr marL="0" indent="0">
              <a:buNone/>
            </a:pPr>
            <a:endParaRPr lang="en-GB" noProof="0" dirty="0"/>
          </a:p>
          <a:p>
            <a:pPr marL="0" indent="0">
              <a:buNone/>
            </a:pPr>
            <a:endParaRPr lang="en-GB" noProof="0" dirty="0"/>
          </a:p>
        </p:txBody>
      </p:sp>
    </p:spTree>
    <p:extLst>
      <p:ext uri="{BB962C8B-B14F-4D97-AF65-F5344CB8AC3E}">
        <p14:creationId xmlns:p14="http://schemas.microsoft.com/office/powerpoint/2010/main" val="29855086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6FC90-3453-F682-1534-3B3B5307292E}"/>
              </a:ext>
            </a:extLst>
          </p:cNvPr>
          <p:cNvSpPr>
            <a:spLocks noGrp="1"/>
          </p:cNvSpPr>
          <p:nvPr>
            <p:ph type="title"/>
          </p:nvPr>
        </p:nvSpPr>
        <p:spPr/>
        <p:txBody>
          <a:bodyPr>
            <a:normAutofit fontScale="90000"/>
          </a:bodyPr>
          <a:lstStyle/>
          <a:p>
            <a:r>
              <a:rPr lang="en-GB" noProof="0" dirty="0"/>
              <a:t>Segment-specific satisfaction dynamics over time – Output Analysis Interpretation (2)</a:t>
            </a:r>
          </a:p>
        </p:txBody>
      </p:sp>
      <p:sp>
        <p:nvSpPr>
          <p:cNvPr id="3" name="Content Placeholder 2">
            <a:extLst>
              <a:ext uri="{FF2B5EF4-FFF2-40B4-BE49-F238E27FC236}">
                <a16:creationId xmlns:a16="http://schemas.microsoft.com/office/drawing/2014/main" id="{9DE5A306-1119-1067-3DD3-85CAD026E16A}"/>
              </a:ext>
            </a:extLst>
          </p:cNvPr>
          <p:cNvSpPr>
            <a:spLocks noGrp="1"/>
          </p:cNvSpPr>
          <p:nvPr>
            <p:ph idx="1"/>
          </p:nvPr>
        </p:nvSpPr>
        <p:spPr/>
        <p:txBody>
          <a:bodyPr/>
          <a:lstStyle/>
          <a:p>
            <a:pPr marL="0" indent="0">
              <a:buNone/>
            </a:pPr>
            <a:r>
              <a:rPr lang="en-GB" noProof="0" dirty="0"/>
              <a:t>Key Insights:</a:t>
            </a:r>
          </a:p>
          <a:p>
            <a:pPr algn="just">
              <a:buFont typeface="Wingdings" panose="05000000000000000000" pitchFamily="2" charset="2"/>
              <a:buChar char="Ø"/>
            </a:pPr>
            <a:r>
              <a:rPr lang="en-GB" noProof="0" dirty="0"/>
              <a:t> Satisfaction varies significantly by traveller type and seat class.</a:t>
            </a:r>
          </a:p>
          <a:p>
            <a:pPr algn="just">
              <a:buFont typeface="Wingdings" panose="05000000000000000000" pitchFamily="2" charset="2"/>
              <a:buChar char="Ø"/>
            </a:pPr>
            <a:r>
              <a:rPr lang="en-GB" noProof="0" dirty="0"/>
              <a:t> Premium segments consistently outperform economy segments.</a:t>
            </a:r>
          </a:p>
          <a:p>
            <a:pPr algn="just">
              <a:buFont typeface="Wingdings" panose="05000000000000000000" pitchFamily="2" charset="2"/>
              <a:buChar char="Ø"/>
            </a:pPr>
            <a:r>
              <a:rPr lang="en-GB" noProof="0" dirty="0"/>
              <a:t> Economy dissatisfaction reflects comfort and value perception gaps.</a:t>
            </a:r>
          </a:p>
          <a:p>
            <a:pPr algn="just">
              <a:buFont typeface="Wingdings" panose="05000000000000000000" pitchFamily="2" charset="2"/>
              <a:buChar char="Ø"/>
            </a:pPr>
            <a:r>
              <a:rPr lang="en-GB" noProof="0" dirty="0"/>
              <a:t> Segment differences influence loyalty and repeat purchase </a:t>
            </a:r>
            <a:r>
              <a:rPr lang="en-GB" noProof="0" dirty="0" err="1"/>
              <a:t>behavior</a:t>
            </a:r>
            <a:r>
              <a:rPr lang="en-GB" noProof="0" dirty="0"/>
              <a:t>.</a:t>
            </a:r>
          </a:p>
          <a:p>
            <a:pPr algn="just">
              <a:buFont typeface="Wingdings" panose="05000000000000000000" pitchFamily="2" charset="2"/>
              <a:buChar char="Ø"/>
            </a:pPr>
            <a:r>
              <a:rPr lang="en-GB" noProof="0" dirty="0"/>
              <a:t> Targeted interventions can unlock material revenue upside.</a:t>
            </a:r>
          </a:p>
        </p:txBody>
      </p:sp>
    </p:spTree>
    <p:extLst>
      <p:ext uri="{BB962C8B-B14F-4D97-AF65-F5344CB8AC3E}">
        <p14:creationId xmlns:p14="http://schemas.microsoft.com/office/powerpoint/2010/main" val="37578373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7D28E-B561-F77A-B3BE-E6C7D9D2C26B}"/>
              </a:ext>
            </a:extLst>
          </p:cNvPr>
          <p:cNvSpPr>
            <a:spLocks noGrp="1"/>
          </p:cNvSpPr>
          <p:nvPr>
            <p:ph type="title"/>
          </p:nvPr>
        </p:nvSpPr>
        <p:spPr/>
        <p:txBody>
          <a:bodyPr>
            <a:normAutofit fontScale="90000"/>
          </a:bodyPr>
          <a:lstStyle/>
          <a:p>
            <a:r>
              <a:rPr lang="en-GB" noProof="0" dirty="0"/>
              <a:t>Segment-specific satisfaction dynamics over time – Output Analysis Interpretation (3)</a:t>
            </a:r>
          </a:p>
        </p:txBody>
      </p:sp>
      <p:sp>
        <p:nvSpPr>
          <p:cNvPr id="3" name="Content Placeholder 2">
            <a:extLst>
              <a:ext uri="{FF2B5EF4-FFF2-40B4-BE49-F238E27FC236}">
                <a16:creationId xmlns:a16="http://schemas.microsoft.com/office/drawing/2014/main" id="{3C75A76F-D105-779A-A35D-84C433241B32}"/>
              </a:ext>
            </a:extLst>
          </p:cNvPr>
          <p:cNvSpPr>
            <a:spLocks noGrp="1"/>
          </p:cNvSpPr>
          <p:nvPr>
            <p:ph idx="1"/>
          </p:nvPr>
        </p:nvSpPr>
        <p:spPr/>
        <p:txBody>
          <a:bodyPr/>
          <a:lstStyle/>
          <a:p>
            <a:pPr marL="0" indent="0">
              <a:buNone/>
            </a:pPr>
            <a:r>
              <a:rPr lang="en-GB" noProof="0" dirty="0"/>
              <a:t>Business Implications:</a:t>
            </a:r>
          </a:p>
          <a:p>
            <a:pPr algn="just">
              <a:buFont typeface="Wingdings" panose="05000000000000000000" pitchFamily="2" charset="2"/>
              <a:buChar char="Ø"/>
            </a:pPr>
            <a:r>
              <a:rPr lang="en-GB" noProof="0" dirty="0"/>
              <a:t> </a:t>
            </a:r>
            <a:r>
              <a:rPr lang="en-GB" b="1" noProof="0" dirty="0"/>
              <a:t>Revenue risk:</a:t>
            </a:r>
            <a:r>
              <a:rPr lang="en-GB" noProof="0" dirty="0"/>
              <a:t> Poor economy experience threatens volume-based profitability.</a:t>
            </a:r>
          </a:p>
          <a:p>
            <a:pPr algn="just">
              <a:buFont typeface="Wingdings" panose="05000000000000000000" pitchFamily="2" charset="2"/>
              <a:buChar char="Ø"/>
            </a:pPr>
            <a:r>
              <a:rPr lang="en-GB" noProof="0" dirty="0"/>
              <a:t> </a:t>
            </a:r>
            <a:r>
              <a:rPr lang="en-GB" b="1" noProof="0" dirty="0"/>
              <a:t>Loyalty erosion:</a:t>
            </a:r>
            <a:r>
              <a:rPr lang="en-GB" noProof="0" dirty="0"/>
              <a:t> Dissatisfied segments exhibit lower retention rates.</a:t>
            </a:r>
          </a:p>
          <a:p>
            <a:pPr algn="just">
              <a:buFont typeface="Wingdings" panose="05000000000000000000" pitchFamily="2" charset="2"/>
              <a:buChar char="Ø"/>
            </a:pPr>
            <a:r>
              <a:rPr lang="en-GB" noProof="0" dirty="0"/>
              <a:t> </a:t>
            </a:r>
            <a:r>
              <a:rPr lang="en-GB" b="1" noProof="0" dirty="0"/>
              <a:t>Pricing sensitivity:</a:t>
            </a:r>
            <a:r>
              <a:rPr lang="en-GB" noProof="0" dirty="0"/>
              <a:t> Lower satisfaction reduces willingness to pay.</a:t>
            </a:r>
          </a:p>
          <a:p>
            <a:pPr algn="just">
              <a:buFont typeface="Wingdings" panose="05000000000000000000" pitchFamily="2" charset="2"/>
              <a:buChar char="Ø"/>
            </a:pPr>
            <a:r>
              <a:rPr lang="en-GB" noProof="0" dirty="0"/>
              <a:t> </a:t>
            </a:r>
            <a:r>
              <a:rPr lang="en-GB" b="1" noProof="0" dirty="0"/>
              <a:t>Strategic growth opportunity:</a:t>
            </a:r>
            <a:r>
              <a:rPr lang="en-GB" noProof="0" dirty="0"/>
              <a:t> Segment improvements support sustainable growth.</a:t>
            </a:r>
          </a:p>
        </p:txBody>
      </p:sp>
    </p:spTree>
    <p:extLst>
      <p:ext uri="{BB962C8B-B14F-4D97-AF65-F5344CB8AC3E}">
        <p14:creationId xmlns:p14="http://schemas.microsoft.com/office/powerpoint/2010/main" val="6164465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4AA3B-EC45-47D1-B7B3-848063119B3B}"/>
              </a:ext>
            </a:extLst>
          </p:cNvPr>
          <p:cNvSpPr>
            <a:spLocks noGrp="1"/>
          </p:cNvSpPr>
          <p:nvPr>
            <p:ph type="title"/>
          </p:nvPr>
        </p:nvSpPr>
        <p:spPr/>
        <p:txBody>
          <a:bodyPr>
            <a:normAutofit fontScale="90000"/>
          </a:bodyPr>
          <a:lstStyle/>
          <a:p>
            <a:r>
              <a:rPr lang="en-GB" noProof="0" dirty="0"/>
              <a:t>Segment-specific satisfaction dynamics over time – Output Analysis Interpretation (4)</a:t>
            </a:r>
          </a:p>
        </p:txBody>
      </p:sp>
      <p:sp>
        <p:nvSpPr>
          <p:cNvPr id="3" name="Content Placeholder 2">
            <a:extLst>
              <a:ext uri="{FF2B5EF4-FFF2-40B4-BE49-F238E27FC236}">
                <a16:creationId xmlns:a16="http://schemas.microsoft.com/office/drawing/2014/main" id="{849D2357-ADB7-6885-BE21-CDA1E3DB6EDA}"/>
              </a:ext>
            </a:extLst>
          </p:cNvPr>
          <p:cNvSpPr>
            <a:spLocks noGrp="1"/>
          </p:cNvSpPr>
          <p:nvPr>
            <p:ph idx="1"/>
          </p:nvPr>
        </p:nvSpPr>
        <p:spPr/>
        <p:txBody>
          <a:bodyPr/>
          <a:lstStyle/>
          <a:p>
            <a:pPr marL="0" indent="0">
              <a:buNone/>
            </a:pPr>
            <a:r>
              <a:rPr lang="en-GB" noProof="0" dirty="0"/>
              <a:t>Recommended Strategic Actions:</a:t>
            </a:r>
          </a:p>
          <a:p>
            <a:pPr>
              <a:buFont typeface="Wingdings" panose="05000000000000000000" pitchFamily="2" charset="2"/>
              <a:buChar char="Ø"/>
            </a:pPr>
            <a:r>
              <a:rPr lang="en-GB" noProof="0" dirty="0"/>
              <a:t> Enhance economy cabin comfort and service interaction points within cost constraints.</a:t>
            </a:r>
          </a:p>
          <a:p>
            <a:pPr>
              <a:buFont typeface="Wingdings" panose="05000000000000000000" pitchFamily="2" charset="2"/>
              <a:buChar char="Ø"/>
            </a:pPr>
            <a:r>
              <a:rPr lang="en-GB" noProof="0" dirty="0"/>
              <a:t> Develop differentiated experience strategies by traveller type.</a:t>
            </a:r>
          </a:p>
          <a:p>
            <a:pPr>
              <a:buFont typeface="Wingdings" panose="05000000000000000000" pitchFamily="2" charset="2"/>
              <a:buChar char="Ø"/>
            </a:pPr>
            <a:r>
              <a:rPr lang="en-GB" noProof="0" dirty="0"/>
              <a:t> Refine segmentation-based pricing and bundling strategies.</a:t>
            </a:r>
          </a:p>
          <a:p>
            <a:pPr>
              <a:buFont typeface="Wingdings" panose="05000000000000000000" pitchFamily="2" charset="2"/>
              <a:buChar char="Ø"/>
            </a:pPr>
            <a:r>
              <a:rPr lang="en-GB" noProof="0" dirty="0"/>
              <a:t> Target loyalty incentives toward high-risk, low-satisfaction segments.</a:t>
            </a:r>
          </a:p>
          <a:p>
            <a:pPr>
              <a:buFont typeface="Wingdings" panose="05000000000000000000" pitchFamily="2" charset="2"/>
              <a:buChar char="Ø"/>
            </a:pPr>
            <a:r>
              <a:rPr lang="en-GB" noProof="0" dirty="0"/>
              <a:t> Continuously monitor satisfaction at segment level to drive agile improvements.</a:t>
            </a:r>
          </a:p>
        </p:txBody>
      </p:sp>
    </p:spTree>
    <p:extLst>
      <p:ext uri="{BB962C8B-B14F-4D97-AF65-F5344CB8AC3E}">
        <p14:creationId xmlns:p14="http://schemas.microsoft.com/office/powerpoint/2010/main" val="9471752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7C74E-0726-0337-E456-DC00D37E64CC}"/>
              </a:ext>
            </a:extLst>
          </p:cNvPr>
          <p:cNvSpPr>
            <a:spLocks noGrp="1"/>
          </p:cNvSpPr>
          <p:nvPr>
            <p:ph type="title"/>
          </p:nvPr>
        </p:nvSpPr>
        <p:spPr/>
        <p:txBody>
          <a:bodyPr/>
          <a:lstStyle/>
          <a:p>
            <a:r>
              <a:rPr lang="en-GB" noProof="0" dirty="0"/>
              <a:t>Conclusion</a:t>
            </a:r>
          </a:p>
        </p:txBody>
      </p:sp>
      <p:sp>
        <p:nvSpPr>
          <p:cNvPr id="3" name="Content Placeholder 2">
            <a:extLst>
              <a:ext uri="{FF2B5EF4-FFF2-40B4-BE49-F238E27FC236}">
                <a16:creationId xmlns:a16="http://schemas.microsoft.com/office/drawing/2014/main" id="{2EA8812D-4424-AC7C-7CAF-25FC0C90473F}"/>
              </a:ext>
            </a:extLst>
          </p:cNvPr>
          <p:cNvSpPr>
            <a:spLocks noGrp="1"/>
          </p:cNvSpPr>
          <p:nvPr>
            <p:ph idx="1"/>
          </p:nvPr>
        </p:nvSpPr>
        <p:spPr/>
        <p:txBody>
          <a:bodyPr/>
          <a:lstStyle/>
          <a:p>
            <a:pPr marL="0" indent="0" algn="just">
              <a:buNone/>
            </a:pPr>
            <a:r>
              <a:rPr lang="en-GB" noProof="0" dirty="0"/>
              <a:t>This analysis indicates that British Airways’ customer satisfaction remains stable but insufficiently differentiated, constrained by inconsistent service execution, uneven experience quality across aircraft and regions, and persistent underperformance in critical product drivers such as entertainment, seat comfort, food and beverage, and perceived value. These gaps present risks to brand strength, customer loyalty, and revenue resilience, particularly in high-volume and price-sensitive segments. To reverse this trajectory, leadership focus should prioritise fleet and product modernisation, experience standardisation, targeted regional performance interventions, and segment-led service design to deliver consistent, high-quality journeys that strengthen competitive positioning and drive sustainable long-term growth.</a:t>
            </a:r>
          </a:p>
        </p:txBody>
      </p:sp>
    </p:spTree>
    <p:extLst>
      <p:ext uri="{BB962C8B-B14F-4D97-AF65-F5344CB8AC3E}">
        <p14:creationId xmlns:p14="http://schemas.microsoft.com/office/powerpoint/2010/main" val="2903153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4825F1AF-8DBC-4E3D-9F3D-688338DA83FC}"/>
    </a:ext>
  </a:extLst>
</a:theme>
</file>

<file path=docProps/app.xml><?xml version="1.0" encoding="utf-8"?>
<Properties xmlns="http://schemas.openxmlformats.org/officeDocument/2006/extended-properties" xmlns:vt="http://schemas.openxmlformats.org/officeDocument/2006/docPropsVTypes">
  <Template>Integral</Template>
  <TotalTime>0</TotalTime>
  <Words>2928</Words>
  <Application>Microsoft Office PowerPoint</Application>
  <PresentationFormat>Widescreen</PresentationFormat>
  <Paragraphs>182</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Tw Cen MT</vt:lpstr>
      <vt:lpstr>Tw Cen MT Condensed</vt:lpstr>
      <vt:lpstr>Wingdings</vt:lpstr>
      <vt:lpstr>Wingdings 3</vt:lpstr>
      <vt:lpstr>Integral</vt:lpstr>
      <vt:lpstr>Stakeholder Data Storytelling Report</vt:lpstr>
      <vt:lpstr>Contents (1)</vt:lpstr>
      <vt:lpstr>Contents (2)</vt:lpstr>
      <vt:lpstr>Contents (3)</vt:lpstr>
      <vt:lpstr>introduction</vt:lpstr>
      <vt:lpstr>Analytical Focus &amp; Key Business Questions</vt:lpstr>
      <vt:lpstr>Business Questions Significance </vt:lpstr>
      <vt:lpstr>Dashboard &amp; Visualisations</vt:lpstr>
      <vt:lpstr>Overall performance and trend – Output Analysis Interpretation (1)</vt:lpstr>
      <vt:lpstr>Overall performance and trend – Output Analysis Interpretation (2)</vt:lpstr>
      <vt:lpstr>Overall performance and trend – Output Analysis Interpretation (3)</vt:lpstr>
      <vt:lpstr>Overall performance and trend – Output Analysis Interpretation (4)</vt:lpstr>
      <vt:lpstr>Customer experience by aircraft type – Output Analysis Interpretation (1)</vt:lpstr>
      <vt:lpstr>Customer experience by aircraft type – Output Analysis Interpretation (2)</vt:lpstr>
      <vt:lpstr>Customer experience by aircraft type – Output Analysis Interpretation (3)</vt:lpstr>
      <vt:lpstr>Customer experience by aircraft type – Output Analysis Interpretation (4)</vt:lpstr>
      <vt:lpstr>Market-level satisfaction differences – Output Analysis Interpretation (1)</vt:lpstr>
      <vt:lpstr>Market-level satisfaction differences – Output Analysis Interpretation (2)</vt:lpstr>
      <vt:lpstr>Market-level satisfaction differences – Output Analysis Interpretation (3)</vt:lpstr>
      <vt:lpstr>Market-level satisfaction differences – Output Analysis Interpretation (4)</vt:lpstr>
      <vt:lpstr>Drivers of customer satisfaction and dissatisfaction – Output Analysis Interpretation (1)</vt:lpstr>
      <vt:lpstr>Drivers of customer satisfaction and dissatisfaction – Output Analysis Interpretation (2)</vt:lpstr>
      <vt:lpstr>Drivers of customer satisfaction and dissatisfaction – Output Analysis Interpretation (3)</vt:lpstr>
      <vt:lpstr>Drivers of customer satisfaction and dissatisfaction – Output Analysis Interpretation (4)</vt:lpstr>
      <vt:lpstr>Segment-specific satisfaction dynamics over time – Output Analysis Interpretation (1)</vt:lpstr>
      <vt:lpstr>Segment-specific satisfaction dynamics over time – Output Analysis Interpretation (2)</vt:lpstr>
      <vt:lpstr>Segment-specific satisfaction dynamics over time – Output Analysis Interpretation (3)</vt:lpstr>
      <vt:lpstr>Segment-specific satisfaction dynamics over time – Output Analysis Interpretation (4)</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Hristo Petkov</dc:creator>
  <cp:lastModifiedBy>Hristo Petkov</cp:lastModifiedBy>
  <cp:revision>153</cp:revision>
  <dcterms:created xsi:type="dcterms:W3CDTF">2026-02-06T16:16:16Z</dcterms:created>
  <dcterms:modified xsi:type="dcterms:W3CDTF">2026-02-07T16:15:52Z</dcterms:modified>
</cp:coreProperties>
</file>